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3228-5CF7-6E6B-BBA9-788AE6391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AC8DA-0770-DBB9-D3C1-6CE15D4AB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48BBF-4857-9A06-0738-356A5907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2A3ED-4DDA-E2E9-FE18-31F513B9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A226A-EAF1-EBEA-4171-40C7BC52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2BA3-7B12-9E04-CD75-1D43507D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FA76E-7599-E819-B5C4-6C3BB9612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2DAD0-E5A1-110F-7355-FA034919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21F22-521D-FC53-AE3B-6E165F79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FC26A-E9E1-D170-720C-EF285E57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6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8CC0-72F9-5CD1-6FEB-E4469415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10892-7A7F-FB15-868D-5A1CD72E5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35D08-C4FF-FA76-747F-6F5CC1542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69611-B4E5-2692-A495-9CFC7134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77174-B03A-E822-5708-145A2F5C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11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FA0F-0F8A-DBC5-9716-FF814DBA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42EA7-B3D0-FBB3-86F5-50D3C2922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B0A41-ACC3-61F3-7A8F-29AC24A42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ACB73-C717-31ED-2AC3-40F874CD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D98D6-09B9-1C5E-8A63-1FC95BB5C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3CFA4-01A1-D878-4E8C-917E40ED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3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CB1B-B959-CCC0-E6A9-4458DFCD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4BEA8-0B46-DD1A-83B5-2CF5FB55E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5BB1A-D734-6F00-9FE9-84B7209AC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5D4F5A-906D-040F-5CCD-DD794AD78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2E15C-1243-B7C8-9DF3-6A7D6983F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51F01-0EC8-C28A-6B9D-A988A844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CAC2F-B246-8B6C-2F9E-D8E39CFF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235CA5-2103-38BD-38BF-053248CE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7D3A-1FEB-A8E6-C27C-FDA8814C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5D17E-DDB7-5FCB-B7D6-FADCC5D2E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C9AC3-7A32-740D-8516-DE19D395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13C6F-8BCA-1053-116F-0C20D697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5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23B36-7DD1-1EB6-9224-6FE00914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7AF31-36C0-9E05-D1B2-AACB2C4C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A9A0A-2D87-4C8F-8E15-3EBCA152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55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B668-0B00-FAA2-628A-397C37CA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EA7C-1954-DCFE-22F4-EAEDAC4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D304A-736C-0F87-A375-767509CDE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6EE0B-BBB7-A04D-A441-9ED1C400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03863-E66B-16AC-0EA2-42AB02F8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17ADB-025A-CB2F-8055-CE8CCF7F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3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393D-271E-E4EA-BF59-30C916CD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479B3-F032-719C-E1EF-52D7E30FF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04543-000F-78D2-90A5-048109188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ECA77-F76A-BFDF-2ABB-6149452B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0BE8-C1EC-4EE2-AB42-0CDED8FE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14B16-0B79-1DD5-A643-36303FC5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2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D72B-A3EF-A200-F101-591FDA96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60A26-40FC-C8F0-4471-A8A1C785D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52182-E8F0-6BA7-61E2-CF0D627E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5E4CE-5A14-09A4-E1A5-8D7850DA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3CE6A-77C5-C1C7-1E4F-298B22C3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6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0342D-FDAE-99EB-DA0A-3B7C4A218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9B25F-ECA8-D32E-5A96-B3BC1EF41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C08C9-4969-1E0F-590D-685588C71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8DF3D-6F37-6368-C21B-9058B886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A8A74-EA3E-56DD-EFB2-4A58606A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5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9524B-7F7B-2347-8266-A2133E8B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0706C-E290-9C9F-44FE-5A1DF7376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200C8-287D-17B9-D13F-F2587D6BA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A5F17-BE2A-4756-9FF8-5143B60AC5B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46DD6-546A-75F3-0000-D72063EAA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DD18D-0963-0DCC-B0AB-1B54AED80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02986-FBAB-4764-9B1D-842259A56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9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BE6F0-9B2C-6675-4D1C-91CCF8BDD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Data Centers Are a ‘Gold Rush’ for Construction Workers</a:t>
            </a:r>
            <a:br>
              <a:rPr lang="en-US" sz="4800" b="1" dirty="0">
                <a:solidFill>
                  <a:srgbClr val="FFFFFF"/>
                </a:solidFill>
              </a:rPr>
            </a:b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51F4F-A4A3-BF61-B22D-19357C63B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Ed Elowson</a:t>
            </a:r>
          </a:p>
          <a:p>
            <a:r>
              <a:rPr lang="en-US" sz="2200" dirty="0">
                <a:solidFill>
                  <a:srgbClr val="FFFFFF"/>
                </a:solidFill>
              </a:rPr>
              <a:t>Week 3</a:t>
            </a:r>
          </a:p>
        </p:txBody>
      </p:sp>
    </p:spTree>
    <p:extLst>
      <p:ext uri="{BB962C8B-B14F-4D97-AF65-F5344CB8AC3E}">
        <p14:creationId xmlns:p14="http://schemas.microsoft.com/office/powerpoint/2010/main" val="7530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CBD0D-0D34-74B7-A4F0-86D28C30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Article Screenshot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4CE518-596A-DC49-D18F-324E53B87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5262" y="467208"/>
            <a:ext cx="542007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DED34-534C-A215-1EA6-85E2DC0D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Link to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8DA30-366B-30AE-2F5B-2D3A8BEF0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https://www.wsj.com/business/data-centers-are-a-gold-rush-for-construction-workers-6e3c5ce0?reflink=desktopwebshare_permalink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8127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00C70-2A60-DBFA-B339-277341E3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Main Findings and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6B553-475E-E218-C6BC-1A58CC3FC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300"/>
              <a:t>The article argues that the rapid growth of </a:t>
            </a:r>
            <a:r>
              <a:rPr lang="en-US" sz="1300" b="1"/>
              <a:t>artificial intelligence</a:t>
            </a:r>
            <a:r>
              <a:rPr lang="en-US" sz="1300"/>
              <a:t> is driving a massive boom in </a:t>
            </a:r>
            <a:r>
              <a:rPr lang="en-US" sz="1300" b="1"/>
              <a:t>data-center construction</a:t>
            </a:r>
            <a:r>
              <a:rPr lang="en-US" sz="1300"/>
              <a:t>, which is creating unusually high demand for skilled construction workers.</a:t>
            </a:r>
          </a:p>
          <a:p>
            <a:r>
              <a:rPr lang="en-US" sz="1300"/>
              <a:t>Key findings include:</a:t>
            </a:r>
          </a:p>
          <a:p>
            <a:pPr lvl="0"/>
            <a:r>
              <a:rPr lang="en-US" sz="1300"/>
              <a:t>Major tech companies such as Amazon, Google, and Microsoft are building hundreds of data centers to power AI systems.</a:t>
            </a:r>
          </a:p>
          <a:p>
            <a:pPr lvl="0"/>
            <a:r>
              <a:rPr lang="en-US" sz="1300"/>
              <a:t>These projects require </a:t>
            </a:r>
            <a:r>
              <a:rPr lang="en-US" sz="1300" b="1"/>
              <a:t>large construction crews</a:t>
            </a:r>
            <a:r>
              <a:rPr lang="en-US" sz="1300"/>
              <a:t>, sometimes thousands of workers, because the facilities involve complex infrastructure like electrical systems, cooling equipment, generators, and reinforced structures.</a:t>
            </a:r>
          </a:p>
          <a:p>
            <a:pPr lvl="0"/>
            <a:r>
              <a:rPr lang="en-US" sz="1300"/>
              <a:t>Due to high demand, many workers are earning </a:t>
            </a:r>
            <a:r>
              <a:rPr lang="en-US" sz="1300" b="1"/>
              <a:t>25–30% more than typical construction jobs</a:t>
            </a:r>
            <a:r>
              <a:rPr lang="en-US" sz="1300"/>
              <a:t>, with some supervisors and specialists making </a:t>
            </a:r>
            <a:r>
              <a:rPr lang="en-US" sz="1300" b="1"/>
              <a:t>over $200,000 per year</a:t>
            </a:r>
            <a:r>
              <a:rPr lang="en-US" sz="1300"/>
              <a:t>.</a:t>
            </a:r>
          </a:p>
          <a:p>
            <a:pPr lvl="0"/>
            <a:r>
              <a:rPr lang="en-US" sz="1300"/>
              <a:t>The construction industry already faces a </a:t>
            </a:r>
            <a:r>
              <a:rPr lang="en-US" sz="1300" b="1"/>
              <a:t>shortage of about 439,000 workers</a:t>
            </a:r>
            <a:r>
              <a:rPr lang="en-US" sz="1300"/>
              <a:t>, which intensifies competition for skilled trades such as electricians, welders, and plumbers.</a:t>
            </a:r>
          </a:p>
          <a:p>
            <a:pPr lvl="0"/>
            <a:r>
              <a:rPr lang="en-US" sz="1300"/>
              <a:t>Construction companies are offering </a:t>
            </a:r>
            <a:r>
              <a:rPr lang="en-US" sz="1300" b="1"/>
              <a:t>bonuses, perks, and better working conditions</a:t>
            </a:r>
            <a:r>
              <a:rPr lang="en-US" sz="1300"/>
              <a:t> to attract workers.</a:t>
            </a:r>
          </a:p>
          <a:p>
            <a:r>
              <a:rPr lang="en-US" sz="1300"/>
              <a:t>Overall, the article describes the situation as similar to a </a:t>
            </a:r>
            <a:r>
              <a:rPr lang="en-US" sz="1300" b="1"/>
              <a:t>“gold rush,”</a:t>
            </a:r>
            <a:r>
              <a:rPr lang="en-US" sz="1300"/>
              <a:t> where workers with the right skills can quickly earn high wages due to booming demand.</a:t>
            </a:r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34377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88E9D-71DB-DCB2-21E2-8F076746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Broader Implications for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D74F5-DEE8-A01A-4349-6D3C2CD97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400"/>
              <a:t>The boom in data-center construction reflects a larger technological shift driven by the growth of </a:t>
            </a:r>
            <a:r>
              <a:rPr lang="en-US" sz="1400" b="1"/>
              <a:t>AI infrastructure</a:t>
            </a:r>
            <a:r>
              <a:rPr lang="en-US" sz="1400"/>
              <a:t>.</a:t>
            </a:r>
          </a:p>
          <a:p>
            <a:r>
              <a:rPr lang="en-US" sz="1400"/>
              <a:t>Major societal implications include:</a:t>
            </a:r>
          </a:p>
          <a:p>
            <a:pPr lvl="0"/>
            <a:r>
              <a:rPr lang="en-US" sz="1400" b="1"/>
              <a:t>Economic opportunities for skilled trades:</a:t>
            </a:r>
            <a:r>
              <a:rPr lang="en-US" sz="1400"/>
              <a:t> Workers without college degrees can earn high incomes through technical construction jobs.</a:t>
            </a:r>
          </a:p>
          <a:p>
            <a:pPr lvl="0"/>
            <a:r>
              <a:rPr lang="en-US" sz="1400" b="1"/>
              <a:t>Regional economic growth:</a:t>
            </a:r>
            <a:r>
              <a:rPr lang="en-US" sz="1400"/>
              <a:t> Areas with many data centers—like parts of Virginia—are seeing increased employment and training programs.</a:t>
            </a:r>
          </a:p>
          <a:p>
            <a:pPr lvl="0"/>
            <a:r>
              <a:rPr lang="en-US" sz="1400" b="1"/>
              <a:t>Workforce migration:</a:t>
            </a:r>
            <a:r>
              <a:rPr lang="en-US" sz="1400"/>
              <a:t> Workers are traveling long distances or relocating to follow these projects.</a:t>
            </a:r>
          </a:p>
          <a:p>
            <a:pPr lvl="0"/>
            <a:r>
              <a:rPr lang="en-US" sz="1400" b="1"/>
              <a:t>Training expansion:</a:t>
            </a:r>
            <a:r>
              <a:rPr lang="en-US" sz="1400"/>
              <a:t> Trade unions and apprenticeship programs are growing because more people are entering skilled trades.</a:t>
            </a:r>
          </a:p>
          <a:p>
            <a:pPr lvl="0"/>
            <a:r>
              <a:rPr lang="en-US" sz="1400" b="1"/>
              <a:t>Uncertain long-term stability:</a:t>
            </a:r>
            <a:r>
              <a:rPr lang="en-US" sz="1400"/>
              <a:t> The article notes that it is unclear how long the AI investment boom will last, which could affect job stability in the future.</a:t>
            </a:r>
          </a:p>
          <a:p>
            <a:r>
              <a:rPr lang="en-US" sz="1400"/>
              <a:t>In broader terms, the AI industry is not only affecting technology jobs but also </a:t>
            </a:r>
            <a:r>
              <a:rPr lang="en-US" sz="1400" b="1"/>
              <a:t>creating ripple effects across many sectors of the economy.</a:t>
            </a:r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9895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5992C-0537-F0A3-8711-2C6795F0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Relevance or Potential Influence on the Construction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F925-3567-E87C-330A-09C2C3D40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600"/>
              <a:t>The AI data-center boom could significantly reshape the construction industry.</a:t>
            </a:r>
          </a:p>
          <a:p>
            <a:r>
              <a:rPr lang="en-US" sz="1600"/>
              <a:t>Important impacts include:</a:t>
            </a:r>
          </a:p>
          <a:p>
            <a:pPr lvl="0"/>
            <a:r>
              <a:rPr lang="en-US" sz="1600" b="1"/>
              <a:t>Increased demand for specialized construction skills</a:t>
            </a:r>
            <a:r>
              <a:rPr lang="en-US" sz="1600"/>
              <a:t>, especially electrical work, cooling systems, and large-scale industrial building.</a:t>
            </a:r>
          </a:p>
          <a:p>
            <a:pPr lvl="0"/>
            <a:r>
              <a:rPr lang="en-US" sz="1600" b="1"/>
              <a:t>Higher wages and improved benefits</a:t>
            </a:r>
            <a:r>
              <a:rPr lang="en-US" sz="1600"/>
              <a:t> as companies compete for limited skilled labor.</a:t>
            </a:r>
          </a:p>
          <a:p>
            <a:pPr lvl="0"/>
            <a:r>
              <a:rPr lang="en-US" sz="1600" b="1"/>
              <a:t>Project backlogs and delays</a:t>
            </a:r>
            <a:r>
              <a:rPr lang="en-US" sz="1600"/>
              <a:t> due to labor shortages.</a:t>
            </a:r>
          </a:p>
          <a:p>
            <a:pPr lvl="0"/>
            <a:r>
              <a:rPr lang="en-US" sz="1600" b="1"/>
              <a:t>More focus on large industrial infrastructure projects</a:t>
            </a:r>
            <a:r>
              <a:rPr lang="en-US" sz="1600"/>
              <a:t>, especially data centers and AI-related facilities.</a:t>
            </a:r>
          </a:p>
          <a:p>
            <a:pPr lvl="0"/>
            <a:r>
              <a:rPr lang="en-US" sz="1600" b="1"/>
              <a:t>Greater stability for workers</a:t>
            </a:r>
            <a:r>
              <a:rPr lang="en-US" sz="1600"/>
              <a:t>, as many projects last several years and provide steady employment.</a:t>
            </a:r>
          </a:p>
          <a:p>
            <a:r>
              <a:rPr lang="en-US" sz="1600"/>
              <a:t>In the long term, the article suggests that AI infrastructure may become </a:t>
            </a:r>
            <a:r>
              <a:rPr lang="en-US" sz="1600" b="1"/>
              <a:t>one of the most important drivers of construction activity</a:t>
            </a:r>
            <a:r>
              <a:rPr lang="en-US" sz="1600"/>
              <a:t>, similar to how highways, factories, or office buildings fueled past construction booms.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5321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521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Data Centers Are a ‘Gold Rush’ for Construction Workers </vt:lpstr>
      <vt:lpstr>Article Screenshot</vt:lpstr>
      <vt:lpstr>Link to Source</vt:lpstr>
      <vt:lpstr>Main Findings and Arguments</vt:lpstr>
      <vt:lpstr>Broader Implications for Society</vt:lpstr>
      <vt:lpstr>Relevance or Potential Influence on the Construction Industry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Elowson</dc:creator>
  <cp:lastModifiedBy>Ed Elowson</cp:lastModifiedBy>
  <cp:revision>1</cp:revision>
  <dcterms:created xsi:type="dcterms:W3CDTF">2026-03-06T19:44:50Z</dcterms:created>
  <dcterms:modified xsi:type="dcterms:W3CDTF">2026-03-06T19:53:06Z</dcterms:modified>
</cp:coreProperties>
</file>