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662F50-5245-4AAF-9937-BDCB97432E87}" v="1" dt="2026-05-09T22:53:33.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p:scale>
          <a:sx n="71" d="100"/>
          <a:sy n="71" d="100"/>
        </p:scale>
        <p:origin x="72" y="6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 Elowson" userId="e02f2ad9-260d-48b9-ae49-41519fd3a61b" providerId="ADAL" clId="{23F062E9-8A7E-4154-82CB-2E761C864A24}"/>
    <pc:docChg chg="custSel delSld modSld">
      <pc:chgData name="Ed Elowson" userId="e02f2ad9-260d-48b9-ae49-41519fd3a61b" providerId="ADAL" clId="{23F062E9-8A7E-4154-82CB-2E761C864A24}" dt="2026-05-09T22:54:14.518" v="10" actId="2696"/>
      <pc:docMkLst>
        <pc:docMk/>
      </pc:docMkLst>
      <pc:sldChg chg="addSp modSp mod setBg addAnim">
        <pc:chgData name="Ed Elowson" userId="e02f2ad9-260d-48b9-ae49-41519fd3a61b" providerId="ADAL" clId="{23F062E9-8A7E-4154-82CB-2E761C864A24}" dt="2026-05-09T22:49:19.097" v="2"/>
        <pc:sldMkLst>
          <pc:docMk/>
          <pc:sldMk cId="1236333923" sldId="257"/>
        </pc:sldMkLst>
        <pc:spChg chg="mod">
          <ac:chgData name="Ed Elowson" userId="e02f2ad9-260d-48b9-ae49-41519fd3a61b" providerId="ADAL" clId="{23F062E9-8A7E-4154-82CB-2E761C864A24}" dt="2026-05-09T22:49:19.087" v="0" actId="26606"/>
          <ac:spMkLst>
            <pc:docMk/>
            <pc:sldMk cId="1236333923" sldId="257"/>
            <ac:spMk id="2" creationId="{5EB6376E-954F-0047-94F5-8FBE95256B27}"/>
          </ac:spMkLst>
        </pc:spChg>
        <pc:spChg chg="mod">
          <ac:chgData name="Ed Elowson" userId="e02f2ad9-260d-48b9-ae49-41519fd3a61b" providerId="ADAL" clId="{23F062E9-8A7E-4154-82CB-2E761C864A24}" dt="2026-05-09T22:49:19.087" v="0" actId="26606"/>
          <ac:spMkLst>
            <pc:docMk/>
            <pc:sldMk cId="1236333923" sldId="257"/>
            <ac:spMk id="3" creationId="{303C96BC-A8B2-0252-1A05-62A0C4CD1EC8}"/>
          </ac:spMkLst>
        </pc:spChg>
        <pc:spChg chg="add">
          <ac:chgData name="Ed Elowson" userId="e02f2ad9-260d-48b9-ae49-41519fd3a61b" providerId="ADAL" clId="{23F062E9-8A7E-4154-82CB-2E761C864A24}" dt="2026-05-09T22:49:19.087" v="0" actId="26606"/>
          <ac:spMkLst>
            <pc:docMk/>
            <pc:sldMk cId="1236333923" sldId="257"/>
            <ac:spMk id="10" creationId="{83AC883F-69DD-D349-B469-8CDE2139FADB}"/>
          </ac:spMkLst>
        </pc:spChg>
        <pc:spChg chg="add">
          <ac:chgData name="Ed Elowson" userId="e02f2ad9-260d-48b9-ae49-41519fd3a61b" providerId="ADAL" clId="{23F062E9-8A7E-4154-82CB-2E761C864A24}" dt="2026-05-09T22:49:19.087" v="0" actId="26606"/>
          <ac:spMkLst>
            <pc:docMk/>
            <pc:sldMk cId="1236333923" sldId="257"/>
            <ac:spMk id="12" creationId="{5B0749EA-BE79-9EB1-B769-385489D43E86}"/>
          </ac:spMkLst>
        </pc:spChg>
        <pc:spChg chg="add">
          <ac:chgData name="Ed Elowson" userId="e02f2ad9-260d-48b9-ae49-41519fd3a61b" providerId="ADAL" clId="{23F062E9-8A7E-4154-82CB-2E761C864A24}" dt="2026-05-09T22:49:19.087" v="0" actId="26606"/>
          <ac:spMkLst>
            <pc:docMk/>
            <pc:sldMk cId="1236333923" sldId="257"/>
            <ac:spMk id="14" creationId="{1E5913DE-5FC3-6E84-57B7-19B2096A529C}"/>
          </ac:spMkLst>
        </pc:spChg>
        <pc:picChg chg="add">
          <ac:chgData name="Ed Elowson" userId="e02f2ad9-260d-48b9-ae49-41519fd3a61b" providerId="ADAL" clId="{23F062E9-8A7E-4154-82CB-2E761C864A24}" dt="2026-05-09T22:49:19.087" v="0" actId="26606"/>
          <ac:picMkLst>
            <pc:docMk/>
            <pc:sldMk cId="1236333923" sldId="257"/>
            <ac:picMk id="7" creationId="{469A928D-07C5-0743-F695-DC222DD210F8}"/>
          </ac:picMkLst>
        </pc:picChg>
      </pc:sldChg>
      <pc:sldChg chg="addSp delSp modSp mod">
        <pc:chgData name="Ed Elowson" userId="e02f2ad9-260d-48b9-ae49-41519fd3a61b" providerId="ADAL" clId="{23F062E9-8A7E-4154-82CB-2E761C864A24}" dt="2026-05-09T22:53:50.958" v="9" actId="1076"/>
        <pc:sldMkLst>
          <pc:docMk/>
          <pc:sldMk cId="584258032" sldId="260"/>
        </pc:sldMkLst>
        <pc:spChg chg="del">
          <ac:chgData name="Ed Elowson" userId="e02f2ad9-260d-48b9-ae49-41519fd3a61b" providerId="ADAL" clId="{23F062E9-8A7E-4154-82CB-2E761C864A24}" dt="2026-05-09T22:52:51.876" v="3" actId="478"/>
          <ac:spMkLst>
            <pc:docMk/>
            <pc:sldMk cId="584258032" sldId="260"/>
            <ac:spMk id="2" creationId="{002BD825-9C27-FC24-568D-564EEF67092F}"/>
          </ac:spMkLst>
        </pc:spChg>
        <pc:spChg chg="del">
          <ac:chgData name="Ed Elowson" userId="e02f2ad9-260d-48b9-ae49-41519fd3a61b" providerId="ADAL" clId="{23F062E9-8A7E-4154-82CB-2E761C864A24}" dt="2026-05-09T22:52:53.427" v="4" actId="478"/>
          <ac:spMkLst>
            <pc:docMk/>
            <pc:sldMk cId="584258032" sldId="260"/>
            <ac:spMk id="3" creationId="{270795AD-129F-1F27-D259-272CC9A42595}"/>
          </ac:spMkLst>
        </pc:spChg>
        <pc:picChg chg="add mod">
          <ac:chgData name="Ed Elowson" userId="e02f2ad9-260d-48b9-ae49-41519fd3a61b" providerId="ADAL" clId="{23F062E9-8A7E-4154-82CB-2E761C864A24}" dt="2026-05-09T22:53:50.958" v="9" actId="1076"/>
          <ac:picMkLst>
            <pc:docMk/>
            <pc:sldMk cId="584258032" sldId="260"/>
            <ac:picMk id="5" creationId="{B7C0A7A7-ACE5-A376-C28E-DA1FA0F8388A}"/>
          </ac:picMkLst>
        </pc:picChg>
      </pc:sldChg>
      <pc:sldChg chg="del">
        <pc:chgData name="Ed Elowson" userId="e02f2ad9-260d-48b9-ae49-41519fd3a61b" providerId="ADAL" clId="{23F062E9-8A7E-4154-82CB-2E761C864A24}" dt="2026-05-09T22:54:14.518" v="10" actId="2696"/>
        <pc:sldMkLst>
          <pc:docMk/>
          <pc:sldMk cId="320280607"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17271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5907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072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3772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9070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19868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55240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4799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79567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07272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5/9/2026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338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5/9/2026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262089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a:extLst>
              <a:ext uri="{FF2B5EF4-FFF2-40B4-BE49-F238E27FC236}">
                <a16:creationId xmlns:a16="http://schemas.microsoft.com/office/drawing/2014/main" id="{C2C1F3A4-DDA3-399B-F9BB-349C48492BD8}"/>
              </a:ext>
            </a:extLst>
          </p:cNvPr>
          <p:cNvPicPr>
            <a:picLocks noChangeAspect="1"/>
          </p:cNvPicPr>
          <p:nvPr/>
        </p:nvPicPr>
        <p:blipFill>
          <a:blip r:embed="rId2"/>
          <a:srcRect/>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CA8D391-90B5-C420-7FD4-8C4FC6EB5548}"/>
              </a:ext>
            </a:extLst>
          </p:cNvPr>
          <p:cNvSpPr>
            <a:spLocks noGrp="1"/>
          </p:cNvSpPr>
          <p:nvPr>
            <p:ph type="ctrTitle"/>
          </p:nvPr>
        </p:nvSpPr>
        <p:spPr>
          <a:xfrm>
            <a:off x="7306780" y="978409"/>
            <a:ext cx="4496529" cy="3678268"/>
          </a:xfrm>
        </p:spPr>
        <p:txBody>
          <a:bodyPr anchor="t">
            <a:normAutofit fontScale="90000"/>
          </a:bodyPr>
          <a:lstStyle/>
          <a:p>
            <a:r>
              <a:rPr lang="en-US" sz="4500" dirty="0"/>
              <a:t>Colleges Race to Ready Students for the AI Workplace</a:t>
            </a:r>
            <a:br>
              <a:rPr lang="en-US" dirty="0"/>
            </a:br>
            <a:endParaRPr lang="en-US" sz="6000" dirty="0"/>
          </a:p>
        </p:txBody>
      </p:sp>
      <p:sp>
        <p:nvSpPr>
          <p:cNvPr id="3" name="Subtitle 2">
            <a:extLst>
              <a:ext uri="{FF2B5EF4-FFF2-40B4-BE49-F238E27FC236}">
                <a16:creationId xmlns:a16="http://schemas.microsoft.com/office/drawing/2014/main" id="{97F2B16B-1B3E-DAE7-4627-4D3F19CBE9BE}"/>
              </a:ext>
            </a:extLst>
          </p:cNvPr>
          <p:cNvSpPr>
            <a:spLocks noGrp="1"/>
          </p:cNvSpPr>
          <p:nvPr>
            <p:ph type="subTitle" idx="1"/>
          </p:nvPr>
        </p:nvSpPr>
        <p:spPr>
          <a:xfrm>
            <a:off x="7303288" y="4729138"/>
            <a:ext cx="4488812" cy="1150453"/>
          </a:xfrm>
        </p:spPr>
        <p:txBody>
          <a:bodyPr anchor="b">
            <a:normAutofit/>
          </a:bodyPr>
          <a:lstStyle/>
          <a:p>
            <a:r>
              <a:rPr lang="en-US" dirty="0"/>
              <a:t>Week 15 Ed Elowson Higher Education</a:t>
            </a:r>
          </a:p>
        </p:txBody>
      </p:sp>
      <p:sp>
        <p:nvSpPr>
          <p:cNvPr id="13" name="Rectangle 12">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5" name="Rectangle 14">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06845364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AC883F-69DD-D349-B469-8CDE2139F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B6376E-954F-0047-94F5-8FBE95256B27}"/>
              </a:ext>
            </a:extLst>
          </p:cNvPr>
          <p:cNvSpPr>
            <a:spLocks noGrp="1"/>
          </p:cNvSpPr>
          <p:nvPr>
            <p:ph type="title"/>
          </p:nvPr>
        </p:nvSpPr>
        <p:spPr>
          <a:xfrm>
            <a:off x="521208" y="978408"/>
            <a:ext cx="4032504" cy="2121408"/>
          </a:xfrm>
        </p:spPr>
        <p:txBody>
          <a:bodyPr>
            <a:normAutofit/>
          </a:bodyPr>
          <a:lstStyle/>
          <a:p>
            <a:r>
              <a:rPr lang="en-US" sz="4000"/>
              <a:t>Link To The Source</a:t>
            </a:r>
          </a:p>
        </p:txBody>
      </p:sp>
      <p:sp>
        <p:nvSpPr>
          <p:cNvPr id="12" name="Rectangle 11">
            <a:extLst>
              <a:ext uri="{FF2B5EF4-FFF2-40B4-BE49-F238E27FC236}">
                <a16:creationId xmlns:a16="http://schemas.microsoft.com/office/drawing/2014/main" id="{5B0749EA-BE79-9EB1-B769-385489D43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03336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913DE-5FC3-6E84-57B7-19B2096A5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76630" y="612648"/>
            <a:ext cx="659282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Link">
            <a:extLst>
              <a:ext uri="{FF2B5EF4-FFF2-40B4-BE49-F238E27FC236}">
                <a16:creationId xmlns:a16="http://schemas.microsoft.com/office/drawing/2014/main" id="{469A928D-07C5-0743-F695-DC222DD210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9" y="3511363"/>
            <a:ext cx="2834640" cy="2834640"/>
          </a:xfrm>
          <a:prstGeom prst="rect">
            <a:avLst/>
          </a:prstGeom>
        </p:spPr>
      </p:pic>
      <p:sp>
        <p:nvSpPr>
          <p:cNvPr id="3" name="Content Placeholder 2">
            <a:extLst>
              <a:ext uri="{FF2B5EF4-FFF2-40B4-BE49-F238E27FC236}">
                <a16:creationId xmlns:a16="http://schemas.microsoft.com/office/drawing/2014/main" id="{303C96BC-A8B2-0252-1A05-62A0C4CD1EC8}"/>
              </a:ext>
            </a:extLst>
          </p:cNvPr>
          <p:cNvSpPr>
            <a:spLocks noGrp="1"/>
          </p:cNvSpPr>
          <p:nvPr>
            <p:ph idx="1"/>
          </p:nvPr>
        </p:nvSpPr>
        <p:spPr>
          <a:xfrm>
            <a:off x="5074920" y="1033272"/>
            <a:ext cx="6592824" cy="5312664"/>
          </a:xfrm>
        </p:spPr>
        <p:txBody>
          <a:bodyPr>
            <a:normAutofit/>
          </a:bodyPr>
          <a:lstStyle/>
          <a:p>
            <a:r>
              <a:rPr lang="en-US" dirty="0"/>
              <a:t>https://www.wsj.com/us-news/education/colleges-race-to-ready-students-for-the-ai-workplace-cc936e5b</a:t>
            </a:r>
          </a:p>
        </p:txBody>
      </p:sp>
    </p:spTree>
    <p:extLst>
      <p:ext uri="{BB962C8B-B14F-4D97-AF65-F5344CB8AC3E}">
        <p14:creationId xmlns:p14="http://schemas.microsoft.com/office/powerpoint/2010/main" val="123633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A346E6-0C35-97A4-5DB1-07BF35073218}"/>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a:extLst>
              <a:ext uri="{FF2B5EF4-FFF2-40B4-BE49-F238E27FC236}">
                <a16:creationId xmlns:a16="http://schemas.microsoft.com/office/drawing/2014/main" id="{8924028C-69AC-3EC5-48E0-23D0EF8A8050}"/>
              </a:ext>
            </a:extLst>
          </p:cNvPr>
          <p:cNvPicPr>
            <a:picLocks noGrp="1" noChangeAspect="1"/>
          </p:cNvPicPr>
          <p:nvPr>
            <p:ph idx="1"/>
          </p:nvPr>
        </p:nvPicPr>
        <p:blipFill>
          <a:blip r:embed="rId2"/>
          <a:srcRect t="6990" b="32034"/>
          <a:stretch>
            <a:fillRect/>
          </a:stretch>
        </p:blipFill>
        <p:spPr>
          <a:xfrm>
            <a:off x="20" y="10"/>
            <a:ext cx="12191979" cy="6857990"/>
          </a:xfrm>
          <a:prstGeom prst="rect">
            <a:avLst/>
          </a:prstGeom>
        </p:spPr>
      </p:pic>
      <p:sp>
        <p:nvSpPr>
          <p:cNvPr id="16" name="Rectangle 15">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4CFD589-0F92-2AA0-CA9A-30D90B73E275}"/>
              </a:ext>
            </a:extLst>
          </p:cNvPr>
          <p:cNvSpPr>
            <a:spLocks noGrp="1"/>
          </p:cNvSpPr>
          <p:nvPr>
            <p:ph type="title"/>
          </p:nvPr>
        </p:nvSpPr>
        <p:spPr>
          <a:xfrm>
            <a:off x="7306780" y="978409"/>
            <a:ext cx="4496529" cy="3678268"/>
          </a:xfrm>
        </p:spPr>
        <p:txBody>
          <a:bodyPr vert="horz" lIns="91440" tIns="45720" rIns="91440" bIns="45720" rtlCol="0" anchor="t">
            <a:normAutofit/>
          </a:bodyPr>
          <a:lstStyle/>
          <a:p>
            <a:r>
              <a:rPr lang="en-US" sz="6000"/>
              <a:t>Screenshot</a:t>
            </a:r>
          </a:p>
        </p:txBody>
      </p:sp>
      <p:sp>
        <p:nvSpPr>
          <p:cNvPr id="18" name="Rectangle 17">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Rectangle 19">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53013597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D32349-E6FD-C677-F2E4-942FB90002E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AC883F-69DD-D349-B469-8CDE2139F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75716C-7E98-E216-EEDB-2869688BE0DE}"/>
              </a:ext>
            </a:extLst>
          </p:cNvPr>
          <p:cNvSpPr>
            <a:spLocks noGrp="1"/>
          </p:cNvSpPr>
          <p:nvPr>
            <p:ph type="title"/>
          </p:nvPr>
        </p:nvSpPr>
        <p:spPr>
          <a:xfrm>
            <a:off x="521208" y="978408"/>
            <a:ext cx="4032504" cy="2121408"/>
          </a:xfrm>
        </p:spPr>
        <p:txBody>
          <a:bodyPr>
            <a:normAutofit/>
          </a:bodyPr>
          <a:lstStyle/>
          <a:p>
            <a:r>
              <a:rPr lang="en-US" sz="4000"/>
              <a:t>Main Findings</a:t>
            </a:r>
          </a:p>
        </p:txBody>
      </p:sp>
      <p:sp>
        <p:nvSpPr>
          <p:cNvPr id="12" name="Rectangle 11">
            <a:extLst>
              <a:ext uri="{FF2B5EF4-FFF2-40B4-BE49-F238E27FC236}">
                <a16:creationId xmlns:a16="http://schemas.microsoft.com/office/drawing/2014/main" id="{5B0749EA-BE79-9EB1-B769-385489D43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03336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913DE-5FC3-6E84-57B7-19B2096A5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76630" y="612648"/>
            <a:ext cx="659282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Education">
            <a:extLst>
              <a:ext uri="{FF2B5EF4-FFF2-40B4-BE49-F238E27FC236}">
                <a16:creationId xmlns:a16="http://schemas.microsoft.com/office/drawing/2014/main" id="{9A20FC5C-EEEE-BB54-555A-33FC075902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9" y="3511363"/>
            <a:ext cx="2834640" cy="2834640"/>
          </a:xfrm>
          <a:prstGeom prst="rect">
            <a:avLst/>
          </a:prstGeom>
        </p:spPr>
      </p:pic>
      <p:sp>
        <p:nvSpPr>
          <p:cNvPr id="3" name="Content Placeholder 2">
            <a:extLst>
              <a:ext uri="{FF2B5EF4-FFF2-40B4-BE49-F238E27FC236}">
                <a16:creationId xmlns:a16="http://schemas.microsoft.com/office/drawing/2014/main" id="{833AB0AE-5203-49DB-3FE3-510DCB44D4A8}"/>
              </a:ext>
            </a:extLst>
          </p:cNvPr>
          <p:cNvSpPr>
            <a:spLocks noGrp="1"/>
          </p:cNvSpPr>
          <p:nvPr>
            <p:ph idx="1"/>
          </p:nvPr>
        </p:nvSpPr>
        <p:spPr>
          <a:xfrm>
            <a:off x="5074920" y="1033272"/>
            <a:ext cx="6592824" cy="5312664"/>
          </a:xfrm>
        </p:spPr>
        <p:txBody>
          <a:bodyPr>
            <a:normAutofit/>
          </a:bodyPr>
          <a:lstStyle/>
          <a:p>
            <a:pPr>
              <a:lnSpc>
                <a:spcPct val="100000"/>
              </a:lnSpc>
            </a:pPr>
            <a:r>
              <a:rPr lang="en-US" dirty="0"/>
              <a:t>The article explains how colleges and universities are rapidly restructuring programs and coursework to prepare students for an AI-driven workforce. As generative AI tools like ChatGPT become increasingly common in professional environments, students are seeking AI-related skills to improve employability and remain competitive in the job market. Universities such as Emory, Cornell, the University of Florida, and USC are responding by creating AI minors, certificates, and specialized degrees that combine technical training with real-world applications across business, marketing, engineering, and other disciplines. The article highlights that employer demand for AI literacy is growing quickly, with job postings mentioning generative AI tools tripling over the past year. Educators compare AI literacy to learning Microsoft Office or typing in earlier decades, suggesting it will soon become a universal workplace expectation. At the same time, universities are emphasizing ethical concerns, critical thinking, and understanding AI’s limitations alongside technical skills.</a:t>
            </a:r>
          </a:p>
          <a:p>
            <a:pPr>
              <a:lnSpc>
                <a:spcPct val="100000"/>
              </a:lnSpc>
            </a:pPr>
            <a:endParaRPr lang="en-US" dirty="0"/>
          </a:p>
        </p:txBody>
      </p:sp>
    </p:spTree>
    <p:extLst>
      <p:ext uri="{BB962C8B-B14F-4D97-AF65-F5344CB8AC3E}">
        <p14:creationId xmlns:p14="http://schemas.microsoft.com/office/powerpoint/2010/main" val="631044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FFDB4-11B8-2492-8B4F-9CA068759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5D506-EAD4-A61A-3785-C7CC57F7EFE8}"/>
              </a:ext>
            </a:extLst>
          </p:cNvPr>
          <p:cNvSpPr>
            <a:spLocks noGrp="1"/>
          </p:cNvSpPr>
          <p:nvPr>
            <p:ph type="title"/>
          </p:nvPr>
        </p:nvSpPr>
        <p:spPr/>
        <p:txBody>
          <a:bodyPr/>
          <a:lstStyle/>
          <a:p>
            <a:r>
              <a:rPr lang="en-US" dirty="0"/>
              <a:t>Broader Implications for Society</a:t>
            </a:r>
          </a:p>
        </p:txBody>
      </p:sp>
      <p:sp>
        <p:nvSpPr>
          <p:cNvPr id="3" name="Content Placeholder 2">
            <a:extLst>
              <a:ext uri="{FF2B5EF4-FFF2-40B4-BE49-F238E27FC236}">
                <a16:creationId xmlns:a16="http://schemas.microsoft.com/office/drawing/2014/main" id="{512D123E-A5AD-E465-E39B-FE2BC1A4C5C9}"/>
              </a:ext>
            </a:extLst>
          </p:cNvPr>
          <p:cNvSpPr>
            <a:spLocks noGrp="1"/>
          </p:cNvSpPr>
          <p:nvPr>
            <p:ph idx="1"/>
          </p:nvPr>
        </p:nvSpPr>
        <p:spPr/>
        <p:txBody>
          <a:bodyPr/>
          <a:lstStyle/>
          <a:p>
            <a:r>
              <a:rPr lang="en-US" dirty="0"/>
              <a:t>The broader societal implications reflect a major shift in education, workforce development, and the future of knowledge work. AI is increasingly viewed not as a niche technical specialty but as a foundational skill needed across nearly every profession. This transition could improve productivity, innovation, and economic competitiveness, but it also creates pressure on schools, businesses, and governments to adapt quickly. The article suggests that higher education institutions are becoming responsible for preparing students not only to use AI tools, but also to critically evaluate their outputs and understand ethical risks such as misinformation, bias, and overreliance on automation. At a societal level, the rapid integration of AI into education may widen skill gaps between workers who are AI-literate and those who are not. It also raises broader questions about the long-term value of traditional degrees, how quickly universities can evolve with emerging technologies, and whether educational systems can keep pace with the speed of AI development.</a:t>
            </a:r>
          </a:p>
          <a:p>
            <a:endParaRPr lang="en-US" dirty="0"/>
          </a:p>
        </p:txBody>
      </p:sp>
    </p:spTree>
    <p:extLst>
      <p:ext uri="{BB962C8B-B14F-4D97-AF65-F5344CB8AC3E}">
        <p14:creationId xmlns:p14="http://schemas.microsoft.com/office/powerpoint/2010/main" val="3717816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47418-013D-49B6-E22D-A91612AD6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73FE8-9646-2B92-0FC7-3F1B8288D934}"/>
              </a:ext>
            </a:extLst>
          </p:cNvPr>
          <p:cNvSpPr>
            <a:spLocks noGrp="1"/>
          </p:cNvSpPr>
          <p:nvPr>
            <p:ph type="title"/>
          </p:nvPr>
        </p:nvSpPr>
        <p:spPr/>
        <p:txBody>
          <a:bodyPr/>
          <a:lstStyle/>
          <a:p>
            <a:r>
              <a:rPr lang="en-US" dirty="0"/>
              <a:t>Relevance and Potential Influence on The Construction Industry</a:t>
            </a:r>
          </a:p>
        </p:txBody>
      </p:sp>
      <p:sp>
        <p:nvSpPr>
          <p:cNvPr id="3" name="Content Placeholder 2">
            <a:extLst>
              <a:ext uri="{FF2B5EF4-FFF2-40B4-BE49-F238E27FC236}">
                <a16:creationId xmlns:a16="http://schemas.microsoft.com/office/drawing/2014/main" id="{CDE85DA1-F7F3-102C-A9E3-8145F2DFDFA5}"/>
              </a:ext>
            </a:extLst>
          </p:cNvPr>
          <p:cNvSpPr>
            <a:spLocks noGrp="1"/>
          </p:cNvSpPr>
          <p:nvPr>
            <p:ph idx="1"/>
          </p:nvPr>
        </p:nvSpPr>
        <p:spPr/>
        <p:txBody>
          <a:bodyPr>
            <a:normAutofit lnSpcReduction="10000"/>
          </a:bodyPr>
          <a:lstStyle/>
          <a:p>
            <a:r>
              <a:rPr lang="en-US" dirty="0"/>
              <a:t>For the construction industry, the rise of AI-focused education could significantly influence the future workforce and accelerate digital transformation across architecture, engineering, construction, and facilities management. As universities produce graduates with AI literacy and technical skills, construction firms may increasingly adopt AI-powered tools for scheduling, estimating, procurement, safety monitoring, BIM coordination, predictive maintenance, and project analytics. Future professionals entering the industry may be better prepared to use AI to improve productivity, reduce project delays, and optimize decision-making in complex construction environments. The article’s emphasis on interdisciplinary AI education is especially relevant because construction increasingly relies on collaboration between technical, managerial, and operational teams. Additionally, as labor shortages and infrastructure demands continue to grow, AI-trained graduates could help modernize traditionally manual workflows and support more data-driven project delivery. However, the industry will also need to address challenges involving workforce retraining, ethical AI use, cybersecurity, and ensuring that human expertise remains central in safety-critical construction decisions.</a:t>
            </a:r>
          </a:p>
          <a:p>
            <a:endParaRPr lang="en-US" dirty="0"/>
          </a:p>
        </p:txBody>
      </p:sp>
    </p:spTree>
    <p:extLst>
      <p:ext uri="{BB962C8B-B14F-4D97-AF65-F5344CB8AC3E}">
        <p14:creationId xmlns:p14="http://schemas.microsoft.com/office/powerpoint/2010/main" val="1452159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64842-287F-CD5C-E86C-5F15910DE3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C0A7A7-ACE5-A376-C28E-DA1FA0F83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5059" y="737171"/>
            <a:ext cx="9430871" cy="6022217"/>
          </a:xfrm>
          <a:prstGeom prst="rect">
            <a:avLst/>
          </a:prstGeom>
        </p:spPr>
      </p:pic>
    </p:spTree>
    <p:extLst>
      <p:ext uri="{BB962C8B-B14F-4D97-AF65-F5344CB8AC3E}">
        <p14:creationId xmlns:p14="http://schemas.microsoft.com/office/powerpoint/2010/main" val="584258032"/>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9</TotalTime>
  <Words>570</Words>
  <Application>Microsoft Office PowerPoint</Application>
  <PresentationFormat>Widescreen</PresentationFormat>
  <Paragraphs>11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Bierstadt</vt:lpstr>
      <vt:lpstr>Neue Haas Grotesk Text Pro</vt:lpstr>
      <vt:lpstr>GestaltVTI</vt:lpstr>
      <vt:lpstr>Colleges Race to Ready Students for the AI Workplace </vt:lpstr>
      <vt:lpstr>Link To The Source</vt:lpstr>
      <vt:lpstr>Screenshot</vt:lpstr>
      <vt:lpstr>Main Findings</vt:lpstr>
      <vt:lpstr>Broader Implications for Society</vt:lpstr>
      <vt:lpstr>Relevance and Potential Influence on The Construction Industry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 Elowson</dc:creator>
  <cp:lastModifiedBy>Ed Elowson</cp:lastModifiedBy>
  <cp:revision>1</cp:revision>
  <dcterms:created xsi:type="dcterms:W3CDTF">2026-05-09T22:44:19Z</dcterms:created>
  <dcterms:modified xsi:type="dcterms:W3CDTF">2026-05-09T22:54:17Z</dcterms:modified>
</cp:coreProperties>
</file>