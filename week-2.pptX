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0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8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D860-2A9E-4B65-993D-BD2B9BB163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E130-677D-4941-A221-855A6BEE4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8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D860-2A9E-4B65-993D-BD2B9BB163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E130-677D-4941-A221-855A6BEE4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56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D860-2A9E-4B65-993D-BD2B9BB163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E130-677D-4941-A221-855A6BEE4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53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D860-2A9E-4B65-993D-BD2B9BB163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E130-677D-4941-A221-855A6BEE4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3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D860-2A9E-4B65-993D-BD2B9BB163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E130-677D-4941-A221-855A6BEE4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76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D860-2A9E-4B65-993D-BD2B9BB163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E130-677D-4941-A221-855A6BEE4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5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D860-2A9E-4B65-993D-BD2B9BB163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E130-677D-4941-A221-855A6BEE4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4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D860-2A9E-4B65-993D-BD2B9BB163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E130-677D-4941-A221-855A6BEE4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58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E130-677D-4941-A221-855A6BEE4E5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D860-2A9E-4B65-993D-BD2B9BB163E3}" type="datetimeFigureOut">
              <a:rPr lang="en-US" smtClean="0"/>
              <a:t>3/6/2026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1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D860-2A9E-4B65-993D-BD2B9BB163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E130-677D-4941-A221-855A6BEE4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40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D860-2A9E-4B65-993D-BD2B9BB163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E130-677D-4941-A221-855A6BEE4E5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1782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D860-2A9E-4B65-993D-BD2B9BB163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E130-677D-4941-A221-855A6BEE4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242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D860-2A9E-4B65-993D-BD2B9BB163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E130-677D-4941-A221-855A6BEE4E5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9290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D860-2A9E-4B65-993D-BD2B9BB163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E130-677D-4941-A221-855A6BEE4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7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D860-2A9E-4B65-993D-BD2B9BB163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E130-677D-4941-A221-855A6BEE4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365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D860-2A9E-4B65-993D-BD2B9BB163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5E130-677D-4941-A221-855A6BEE4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646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FD860-2A9E-4B65-993D-BD2B9BB163E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955E130-677D-4941-A221-855A6BEE4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71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620C3-5D24-3D51-9AC2-3691A882F4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Oracle Transforms Construction Safety Management with AI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BC2C3-9611-654D-4F61-99DE5D91FB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Week 2</a:t>
            </a:r>
          </a:p>
          <a:p>
            <a:endParaRPr lang="en-US" dirty="0"/>
          </a:p>
          <a:p>
            <a:r>
              <a:rPr lang="en-US" dirty="0"/>
              <a:t>Ed Elowson</a:t>
            </a:r>
          </a:p>
        </p:txBody>
      </p:sp>
    </p:spTree>
    <p:extLst>
      <p:ext uri="{BB962C8B-B14F-4D97-AF65-F5344CB8AC3E}">
        <p14:creationId xmlns:p14="http://schemas.microsoft.com/office/powerpoint/2010/main" val="2526759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4A391-DD33-84F1-9D04-216C9138D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Screenshot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B6F1E4-FEDB-2B27-574F-4B705BCE4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2381" y="2160588"/>
            <a:ext cx="8007275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609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64ED1-0B64-033A-2B14-970B1258C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to the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253B4-4338-0786-6D17-F75F7E6EC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https://www.prnewswire.com/news-releases/oracle-transforms-construction-safety-management-with-ai-302704313.html</a:t>
            </a:r>
          </a:p>
        </p:txBody>
      </p:sp>
    </p:spTree>
    <p:extLst>
      <p:ext uri="{BB962C8B-B14F-4D97-AF65-F5344CB8AC3E}">
        <p14:creationId xmlns:p14="http://schemas.microsoft.com/office/powerpoint/2010/main" val="3785241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4ACBD-B431-D5DC-A5D7-CAFF24D8C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BDD03-A99C-479C-00B1-073573E5C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Main Findings</a:t>
            </a:r>
            <a:endParaRPr lang="en-US" dirty="0"/>
          </a:p>
          <a:p>
            <a:r>
              <a:rPr lang="en-US" dirty="0"/>
              <a:t>Oracle announced the general availability of </a:t>
            </a:r>
            <a:r>
              <a:rPr lang="en-US" b="1" dirty="0"/>
              <a:t>Oracle Construction and Engineering Advisor for Safety</a:t>
            </a:r>
            <a:r>
              <a:rPr lang="en-US" dirty="0"/>
              <a:t>, an AI-powered predictive intelligence tool designed to improve safety management in construction projects.</a:t>
            </a:r>
          </a:p>
          <a:p>
            <a:r>
              <a:rPr lang="en-US" dirty="0"/>
              <a:t>Key findings and features include:</a:t>
            </a:r>
          </a:p>
          <a:p>
            <a:pPr lvl="0"/>
            <a:r>
              <a:rPr lang="en-US" b="1" dirty="0"/>
              <a:t>Predictive AI safety modeling:</a:t>
            </a:r>
            <a:br>
              <a:rPr lang="en-US" dirty="0"/>
            </a:br>
            <a:r>
              <a:rPr lang="en-US" dirty="0"/>
              <a:t>The system uses an industry-specific AI model trained on </a:t>
            </a:r>
            <a:r>
              <a:rPr lang="en-US" b="1" dirty="0"/>
              <a:t>10,000+ project-years of construction data</a:t>
            </a:r>
            <a:r>
              <a:rPr lang="en-US" dirty="0"/>
              <a:t>, allowing firms to predict safety risks even if they lack extensive internal safety datasets.</a:t>
            </a:r>
          </a:p>
          <a:p>
            <a:pPr lvl="0"/>
            <a:r>
              <a:rPr lang="en-US" b="1" dirty="0"/>
              <a:t>Weekly risk forecasting:</a:t>
            </a:r>
            <a:br>
              <a:rPr lang="en-US" dirty="0"/>
            </a:br>
            <a:r>
              <a:rPr lang="en-US" dirty="0"/>
              <a:t>The platform identifies the </a:t>
            </a:r>
            <a:r>
              <a:rPr lang="en-US" b="1" dirty="0"/>
              <a:t>top 20% of projects likely to generate 80% of safety incidents</a:t>
            </a:r>
            <a:r>
              <a:rPr lang="en-US" dirty="0"/>
              <a:t>, enabling targeted resource allocation.</a:t>
            </a:r>
          </a:p>
          <a:p>
            <a:pPr lvl="0"/>
            <a:r>
              <a:rPr lang="en-US" b="1" dirty="0"/>
              <a:t>Observation-based safety data collection:</a:t>
            </a:r>
            <a:br>
              <a:rPr lang="en-US" dirty="0"/>
            </a:br>
            <a:r>
              <a:rPr lang="en-US" dirty="0"/>
              <a:t>A new observation capability integrated into Oracle Aconex and Oracle Primavera Unifier lets field personnel record standardized safety observations via mobile or web tools.</a:t>
            </a:r>
          </a:p>
          <a:p>
            <a:pPr lvl="0"/>
            <a:r>
              <a:rPr lang="en-US" b="1" dirty="0"/>
              <a:t>Integrated data analytics:</a:t>
            </a:r>
            <a:br>
              <a:rPr lang="en-US" dirty="0"/>
            </a:br>
            <a:r>
              <a:rPr lang="en-US" dirty="0"/>
              <a:t>The system aggregates information from multiple sources including safety observations, incident reports, payroll, project schedules, and ERP systems such as Oracle Fusion Cloud ERP.</a:t>
            </a:r>
          </a:p>
          <a:p>
            <a:pPr lvl="0"/>
            <a:r>
              <a:rPr lang="en-US" b="1" dirty="0"/>
              <a:t>Demonstrated performance improvements:</a:t>
            </a:r>
            <a:br>
              <a:rPr lang="en-US" dirty="0"/>
            </a:br>
            <a:r>
              <a:rPr lang="en-US" dirty="0"/>
              <a:t>Early customer results show potential reductions of:</a:t>
            </a:r>
          </a:p>
          <a:p>
            <a:pPr lvl="1"/>
            <a:r>
              <a:rPr lang="en-US" b="1" dirty="0"/>
              <a:t>Up to 50% in safety incidents</a:t>
            </a:r>
            <a:endParaRPr lang="en-US" dirty="0"/>
          </a:p>
          <a:p>
            <a:pPr lvl="1"/>
            <a:r>
              <a:rPr lang="en-US" b="1" dirty="0"/>
              <a:t>Up to 75% in workers’ compensation costs within the first year</a:t>
            </a:r>
            <a:endParaRPr lang="en-US" dirty="0"/>
          </a:p>
          <a:p>
            <a:r>
              <a:rPr lang="en-US" dirty="0"/>
              <a:t>Overall, the platform shifts construction safety management from </a:t>
            </a:r>
            <a:r>
              <a:rPr lang="en-US" b="1" dirty="0"/>
              <a:t>reactive (after incidents occur) to predictive (preventing incidents before they happen).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393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EA349-27D4-E73A-F9F6-36CB26417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Broader Implications for Society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91A05-9B0E-285D-C379-9E33A57B1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The development reflects several broader trends in the use of AI across industries:</a:t>
            </a:r>
          </a:p>
          <a:p>
            <a:r>
              <a:rPr lang="en-US" b="1" dirty="0"/>
              <a:t>Safer workplaces</a:t>
            </a:r>
            <a:endParaRPr lang="en-US" dirty="0"/>
          </a:p>
          <a:p>
            <a:r>
              <a:rPr lang="en-US" dirty="0"/>
              <a:t>Construction is historically one of the </a:t>
            </a:r>
            <a:r>
              <a:rPr lang="en-US" b="1" dirty="0"/>
              <a:t>most hazardous industries</a:t>
            </a:r>
            <a:r>
              <a:rPr lang="en-US" dirty="0"/>
              <a:t>, so predictive safety tools could significantly reduce injuries and fatalities.</a:t>
            </a:r>
          </a:p>
          <a:p>
            <a:r>
              <a:rPr lang="en-US" b="1" dirty="0"/>
              <a:t>Economic efficiency</a:t>
            </a:r>
            <a:endParaRPr lang="en-US" dirty="0"/>
          </a:p>
          <a:p>
            <a:r>
              <a:rPr lang="en-US" dirty="0"/>
              <a:t>Reducing accidents lowers:</a:t>
            </a:r>
          </a:p>
          <a:p>
            <a:pPr lvl="0"/>
            <a:r>
              <a:rPr lang="en-US" dirty="0"/>
              <a:t>insurance and compensation costs</a:t>
            </a:r>
          </a:p>
          <a:p>
            <a:pPr lvl="0"/>
            <a:r>
              <a:rPr lang="en-US" dirty="0"/>
              <a:t>project delays</a:t>
            </a:r>
          </a:p>
          <a:p>
            <a:pPr lvl="0"/>
            <a:r>
              <a:rPr lang="en-US" dirty="0"/>
              <a:t>legal liabilities</a:t>
            </a:r>
          </a:p>
          <a:p>
            <a:r>
              <a:rPr lang="en-US" dirty="0"/>
              <a:t>This can lead to </a:t>
            </a:r>
            <a:r>
              <a:rPr lang="en-US" b="1" dirty="0"/>
              <a:t>more cost-efficient infrastructure development</a:t>
            </a:r>
            <a:r>
              <a:rPr lang="en-US" dirty="0"/>
              <a:t> and potentially lower project costs for society.</a:t>
            </a:r>
          </a:p>
          <a:p>
            <a:r>
              <a:rPr lang="en-US" b="1" dirty="0"/>
              <a:t>Data-driven labor protection</a:t>
            </a:r>
            <a:endParaRPr lang="en-US" dirty="0"/>
          </a:p>
          <a:p>
            <a:r>
              <a:rPr lang="en-US" dirty="0"/>
              <a:t>AI systems that analyze workplace risks could contribute to </a:t>
            </a:r>
            <a:r>
              <a:rPr lang="en-US" b="1" dirty="0"/>
              <a:t>more proactive occupational safety standards</a:t>
            </a:r>
            <a:r>
              <a:rPr lang="en-US" dirty="0"/>
              <a:t> across industries.</a:t>
            </a:r>
          </a:p>
          <a:p>
            <a:r>
              <a:rPr lang="en-US" b="1" dirty="0"/>
              <a:t>Cultural shift in safety management</a:t>
            </a:r>
            <a:endParaRPr lang="en-US" dirty="0"/>
          </a:p>
          <a:p>
            <a:r>
              <a:rPr lang="en-US" dirty="0"/>
              <a:t>By emphasizing observation reporting and predictive insights, organizations may shift toward </a:t>
            </a:r>
            <a:r>
              <a:rPr lang="en-US" b="1" dirty="0"/>
              <a:t>continuous risk monitoring rather than compliance-based safety programs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196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CC25-4819-4F3B-5B5B-645494236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Relevance and Potential Influence on the Construction Industry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A814F-7DCF-318A-40F6-CE6481B22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The solution could meaningfully reshape construction management practices in several ways:</a:t>
            </a:r>
          </a:p>
          <a:p>
            <a:r>
              <a:rPr lang="en-US" b="1" dirty="0"/>
              <a:t>1. Transition to predictive safety management</a:t>
            </a:r>
            <a:endParaRPr lang="en-US" dirty="0"/>
          </a:p>
          <a:p>
            <a:r>
              <a:rPr lang="en-US" dirty="0"/>
              <a:t>Most construction safety systems rely on </a:t>
            </a:r>
            <a:r>
              <a:rPr lang="en-US" b="1" dirty="0"/>
              <a:t>lagging indicators</a:t>
            </a:r>
            <a:r>
              <a:rPr lang="en-US" dirty="0"/>
              <a:t> (incident reports). AI tools introduce </a:t>
            </a:r>
            <a:r>
              <a:rPr lang="en-US" b="1" dirty="0"/>
              <a:t>leading indicators</a:t>
            </a:r>
            <a:r>
              <a:rPr lang="en-US" dirty="0"/>
              <a:t>, enabling companies to anticipate and mitigate risks earlier.</a:t>
            </a:r>
          </a:p>
          <a:p>
            <a:r>
              <a:rPr lang="en-US" b="1" dirty="0"/>
              <a:t>2. Increased digitalization of job sites</a:t>
            </a:r>
            <a:endParaRPr lang="en-US" dirty="0"/>
          </a:p>
          <a:p>
            <a:r>
              <a:rPr lang="en-US" dirty="0"/>
              <a:t>The platform requires structured digital safety observations via mobile devices, accelerating the </a:t>
            </a:r>
            <a:r>
              <a:rPr lang="en-US" b="1" dirty="0"/>
              <a:t>digitization of field operations</a:t>
            </a:r>
            <a:r>
              <a:rPr lang="en-US" dirty="0"/>
              <a:t>.</a:t>
            </a:r>
          </a:p>
          <a:p>
            <a:r>
              <a:rPr lang="en-US" b="1" dirty="0"/>
              <a:t>3. Data integration across project systems</a:t>
            </a:r>
            <a:endParaRPr lang="en-US" dirty="0"/>
          </a:p>
          <a:p>
            <a:r>
              <a:rPr lang="en-US" dirty="0"/>
              <a:t>By combining data from scheduling, HR, and safety platforms, the system supports </a:t>
            </a:r>
            <a:r>
              <a:rPr lang="en-US" b="1" dirty="0"/>
              <a:t>holistic project risk management</a:t>
            </a:r>
            <a:r>
              <a:rPr lang="en-US" dirty="0"/>
              <a:t> rather than isolated safety tracking.</a:t>
            </a:r>
          </a:p>
          <a:p>
            <a:r>
              <a:rPr lang="en-US" b="1" dirty="0"/>
              <a:t>4. Competitive differentiation</a:t>
            </a:r>
            <a:endParaRPr lang="en-US" dirty="0"/>
          </a:p>
          <a:p>
            <a:r>
              <a:rPr lang="en-US" dirty="0"/>
              <a:t>Contractors adopting AI-driven safety tools may gain advantages through:</a:t>
            </a:r>
          </a:p>
          <a:p>
            <a:pPr lvl="0"/>
            <a:r>
              <a:rPr lang="en-US" dirty="0"/>
              <a:t>lower incident rates</a:t>
            </a:r>
          </a:p>
          <a:p>
            <a:pPr lvl="0"/>
            <a:r>
              <a:rPr lang="en-US" dirty="0"/>
              <a:t>reduced insurance costs</a:t>
            </a:r>
          </a:p>
          <a:p>
            <a:pPr lvl="0"/>
            <a:r>
              <a:rPr lang="en-US" dirty="0"/>
              <a:t>improved regulatory compliance</a:t>
            </a:r>
          </a:p>
          <a:p>
            <a:pPr lvl="0"/>
            <a:r>
              <a:rPr lang="en-US" dirty="0"/>
              <a:t>stronger safety reputations when bidding for projects.</a:t>
            </a:r>
          </a:p>
          <a:p>
            <a:r>
              <a:rPr lang="en-US" b="1" dirty="0"/>
              <a:t>5. Industry-wide benchmarking</a:t>
            </a:r>
            <a:endParaRPr lang="en-US" dirty="0"/>
          </a:p>
          <a:p>
            <a:r>
              <a:rPr lang="en-US" dirty="0"/>
              <a:t>Because the AI model is trained on large cross-project datasets, it may enable </a:t>
            </a:r>
            <a:r>
              <a:rPr lang="en-US" b="1" dirty="0"/>
              <a:t>industry benchmarking and best-practice sharing</a:t>
            </a:r>
            <a:r>
              <a:rPr lang="en-US" dirty="0"/>
              <a:t>, raising overall safety standards.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81128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543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Oracle Transforms Construction Safety Management with AI </vt:lpstr>
      <vt:lpstr>Screenshot</vt:lpstr>
      <vt:lpstr>Link to the Source</vt:lpstr>
      <vt:lpstr>Main Findings</vt:lpstr>
      <vt:lpstr>Broader Implications for Society</vt:lpstr>
      <vt:lpstr>Relevance and Potential Influence on the Construction Industry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Elowson</dc:creator>
  <cp:lastModifiedBy>Ed Elowson</cp:lastModifiedBy>
  <cp:revision>1</cp:revision>
  <dcterms:created xsi:type="dcterms:W3CDTF">2026-03-06T18:37:27Z</dcterms:created>
  <dcterms:modified xsi:type="dcterms:W3CDTF">2026-03-06T18:45:42Z</dcterms:modified>
</cp:coreProperties>
</file>