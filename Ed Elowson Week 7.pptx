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108A3-22CA-447E-C488-994BCE488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ADE77-6620-9615-6ED1-94EC4D881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67B17-B4BC-F047-7ADC-9E7BFA51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85C01-4D79-42C6-AAA5-FCD47D9B96B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F13CD-4BFB-808A-21F6-D7ADA542B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43607-51EB-F543-8197-6D0F7281C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3461-0D60-4F27-A9A5-1A2A6CD2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608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C02EF-AEFF-431F-B5EB-1ACA04422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D24D7-56B4-B43B-C372-C99C8D878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2A371-FEF1-6EDD-32CC-32F635170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85C01-4D79-42C6-AAA5-FCD47D9B96B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7315E-5FEF-3210-CE24-694797EF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2AA88-5DBE-F76C-D0DF-D3EDCD5B7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3461-0D60-4F27-A9A5-1A2A6CD2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4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5C97E-C5F3-D5DB-7632-7783D9ECE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1F3B9-3A31-4843-D665-DDA4BE7D8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2CFCF-677F-89DE-F06F-993441950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85C01-4D79-42C6-AAA5-FCD47D9B96B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B7BC0-E169-0231-899F-23DF26BFC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F9EE-0D63-A831-B10B-9EC9B8C9A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3461-0D60-4F27-A9A5-1A2A6CD2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7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C025B-D94B-19FA-87EB-24DE2021C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9B111-B1EC-6119-9015-CEB67B5CC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916F1-391F-EB4E-4513-D32ABBA89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01796-9465-A037-FAF9-9B93201BE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85C01-4D79-42C6-AAA5-FCD47D9B96B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2C007-B747-0A80-E488-7D741A742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BEA2F-6457-23DA-7958-37A1589D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3461-0D60-4F27-A9A5-1A2A6CD2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96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FBC0-746A-1A4C-EFD7-E8342E0CB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EC0C4-6838-83C5-C846-3A8596297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A3C8E-AD80-0EC3-BD02-486281B8B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4C9CD8-31A3-0199-20EF-31061B43BA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B70B58-9091-E0EC-78BF-D7A110F378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90C5CA-5840-2990-154D-270EBE99F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85C01-4D79-42C6-AAA5-FCD47D9B96B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74FCA-F6A6-FC1C-9A3F-9235D3702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1E9C7-537C-CCD2-04FE-E6002045F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3461-0D60-4F27-A9A5-1A2A6CD2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36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D5169-6FC2-6719-637C-F2081397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66DB41-FBC6-50EC-1883-5E3BBFBD5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85C01-4D79-42C6-AAA5-FCD47D9B96B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EC120-9D1A-5701-0746-45FAEAE05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E2B23-7262-CD9F-AC94-2FD68A688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3461-0D60-4F27-A9A5-1A2A6CD2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1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4855CC-5305-DAC2-8AEF-BCE9F61CD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85C01-4D79-42C6-AAA5-FCD47D9B96B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F6D653-0D0B-D777-A2F7-45D486F7A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ABF39-8293-B661-9829-FE91AE0F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3461-0D60-4F27-A9A5-1A2A6CD2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839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84E-6299-8938-C08A-A958F0A0F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4DECD-4B9F-D14B-3367-8ED10E273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75BC6-3AF1-9032-5C8E-DD5428F18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99DF5-A33D-F4A5-B508-5459742EB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85C01-4D79-42C6-AAA5-FCD47D9B96B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9ACAA-D01C-7927-50E5-9D9EE8DAB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0FEEC-0E09-6356-72E4-A7753A297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3461-0D60-4F27-A9A5-1A2A6CD2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72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7DD35-515F-4D03-C357-D9CE972AD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B12BDE-716A-C87B-6F6A-05753A499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36DDC-157B-071A-8866-61905368B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EBDD4-9D1D-06DE-0D4B-1976896D0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85C01-4D79-42C6-AAA5-FCD47D9B96B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5EC6B-1572-B9BC-6418-AF0B2D6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1FB08-F348-5773-B4C1-E6AD03136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3461-0D60-4F27-A9A5-1A2A6CD2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60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50826-3A60-64E4-367C-7A96AE1AE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A103A-39A2-C63A-9D8D-6000CADDB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76445-629B-BA47-D0C9-F388FA722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85C01-4D79-42C6-AAA5-FCD47D9B96B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670E2-DF9E-543B-EDB7-E44B0F4B6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1002A-C516-1536-BFC9-009CD365B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3461-0D60-4F27-A9A5-1A2A6CD2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27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831EF0-836D-0452-D945-B80A699A4A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1B20BA-241A-19A9-290C-923E36BBB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A80C9-9BD1-D775-C445-EF1980DBF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85C01-4D79-42C6-AAA5-FCD47D9B96B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9E624-EC0C-1236-2A6F-EC7E2E176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C93E2-B12A-FF6D-1F2B-91AC48C20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83461-0D60-4F27-A9A5-1A2A6CD2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39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32B610-27A6-D79F-6439-AAC712756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2AC74-F297-D3B8-D455-306FB5475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50240-0E3F-7CF7-5A0C-40816F8F4D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A85C01-4D79-42C6-AAA5-FCD47D9B96B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6E160-7403-23EE-F0B3-D2306D323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EC0BB-98F0-AD60-7335-BFA6B0A24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883461-0D60-4F27-A9A5-1A2A6CD2C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72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76366-1FF0-222E-7B62-87CCE6BAF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3400" b="1">
                <a:solidFill>
                  <a:srgbClr val="FFFFFF"/>
                </a:solidFill>
              </a:rPr>
              <a:t>The impact of integrating artificial intelligence and Building information modeling (BIM) systems on the development of construction methodologies</a:t>
            </a:r>
            <a:br>
              <a:rPr lang="en-US" sz="3400" b="1">
                <a:solidFill>
                  <a:srgbClr val="FFFFFF"/>
                </a:solidFill>
              </a:rPr>
            </a:br>
            <a:endParaRPr lang="en-US" sz="340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DEC8E5-6410-34C3-9BE7-264A9F7B3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Week 7 Ed Elowson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6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6B4B8E-9AC0-4059-DC15-F094746F0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Screenshot</a:t>
            </a:r>
            <a:b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93BFDD-A171-6D92-6518-CBB04B20C6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252244"/>
            <a:ext cx="7225748" cy="435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838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D86710-1A0F-FADB-7313-14A1A249F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Link To The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72804-D139-0C28-8ADD-6A60479F5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https://link.springer.com/article/10.1007/s43995-025-00193-2</a:t>
            </a:r>
          </a:p>
        </p:txBody>
      </p:sp>
      <p:pic>
        <p:nvPicPr>
          <p:cNvPr id="7" name="Graphic 6" descr="Link">
            <a:extLst>
              <a:ext uri="{FF2B5EF4-FFF2-40B4-BE49-F238E27FC236}">
                <a16:creationId xmlns:a16="http://schemas.microsoft.com/office/drawing/2014/main" id="{D8F27775-71B4-8E7D-6AAF-842BC0FE5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3510" y="467208"/>
            <a:ext cx="5923584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22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B9F6BA-77F4-DD19-F14C-047AB6CC3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Main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41316-FADC-A0E0-1525-C598C1D4D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1300" b="1"/>
              <a:t>1) 🧾 Main Findings and Arguments</a:t>
            </a:r>
          </a:p>
          <a:p>
            <a:r>
              <a:rPr lang="en-US" sz="1300" b="1"/>
              <a:t>Core Findings:</a:t>
            </a:r>
          </a:p>
          <a:p>
            <a:r>
              <a:rPr lang="en-US" sz="1300" b="1"/>
              <a:t>AI + BIM enhances efficiency and productivity</a:t>
            </a:r>
            <a:r>
              <a:rPr lang="en-US" sz="1300"/>
              <a:t> </a:t>
            </a:r>
          </a:p>
          <a:p>
            <a:pPr lvl="1"/>
            <a:r>
              <a:rPr lang="en-US" sz="1300"/>
              <a:t>Automates repetitive design and modeling tasks </a:t>
            </a:r>
          </a:p>
          <a:p>
            <a:pPr lvl="1"/>
            <a:r>
              <a:rPr lang="en-US" sz="1300"/>
              <a:t>Quantitative results: ~32% reduction in design time, ~45% reduction in manual effort, ~28% increase in productivity </a:t>
            </a:r>
          </a:p>
          <a:p>
            <a:r>
              <a:rPr lang="en-US" sz="1300" b="1"/>
              <a:t>AI improves accuracy and reduces errors</a:t>
            </a:r>
            <a:r>
              <a:rPr lang="en-US" sz="1300"/>
              <a:t> </a:t>
            </a:r>
          </a:p>
          <a:p>
            <a:pPr lvl="1"/>
            <a:r>
              <a:rPr lang="en-US" sz="1300"/>
              <a:t>Detects clashes and coordination issues automatically across structural, mechanical, and electrical systems </a:t>
            </a:r>
          </a:p>
          <a:p>
            <a:pPr lvl="1"/>
            <a:r>
              <a:rPr lang="en-US" sz="1300"/>
              <a:t>Leads to fewer costly design changes later </a:t>
            </a:r>
          </a:p>
          <a:p>
            <a:r>
              <a:rPr lang="en-US" sz="1300" b="1"/>
              <a:t>AI supports informed decision-making</a:t>
            </a:r>
            <a:r>
              <a:rPr lang="en-US" sz="1300"/>
              <a:t> </a:t>
            </a:r>
          </a:p>
          <a:p>
            <a:pPr lvl="1"/>
            <a:r>
              <a:rPr lang="en-US" sz="1300"/>
              <a:t>Evaluates energy efficiency, structural performance, and design alternatives </a:t>
            </a:r>
          </a:p>
          <a:p>
            <a:pPr lvl="1"/>
            <a:r>
              <a:rPr lang="en-US" sz="1300"/>
              <a:t>Allows project teams to make data-driven decisions earlier in the design and planning phases </a:t>
            </a:r>
          </a:p>
          <a:p>
            <a:r>
              <a:rPr lang="en-US" sz="1300" b="1"/>
              <a:t>Shift in construction methodologies</a:t>
            </a:r>
            <a:r>
              <a:rPr lang="en-US" sz="1300"/>
              <a:t> </a:t>
            </a:r>
          </a:p>
          <a:p>
            <a:pPr lvl="1"/>
            <a:r>
              <a:rPr lang="en-US" sz="1300"/>
              <a:t>AI + BIM is not just a tool upgrade; it enables predictive, automated, and collaborative project workflows </a:t>
            </a:r>
          </a:p>
          <a:p>
            <a:pPr lvl="1"/>
            <a:r>
              <a:rPr lang="en-US" sz="1300"/>
              <a:t>Facilitates a move from reactive problem-solving to proactive planning </a:t>
            </a:r>
          </a:p>
          <a:p>
            <a:r>
              <a:rPr lang="en-US" sz="1300" b="1"/>
              <a:t>Main Argument:</a:t>
            </a:r>
          </a:p>
          <a:p>
            <a:r>
              <a:rPr lang="en-US" sz="1300"/>
              <a:t>Integrating AI with BIM transforms construction from </a:t>
            </a:r>
            <a:r>
              <a:rPr lang="en-US" sz="1300" b="1"/>
              <a:t>manual, error-prone processes</a:t>
            </a:r>
            <a:r>
              <a:rPr lang="en-US" sz="1300"/>
              <a:t> into </a:t>
            </a:r>
            <a:r>
              <a:rPr lang="en-US" sz="1300" b="1"/>
              <a:t>data-driven, intelligent workflows</a:t>
            </a:r>
            <a:r>
              <a:rPr lang="en-US" sz="1300"/>
              <a:t> that optimize both design and execution.</a:t>
            </a:r>
          </a:p>
          <a:p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4025239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BA93DC-BDF8-D606-13BF-ABEFA1961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Broader Implications for Society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28D89-7E48-97B2-A1F2-D4C17B0D0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1700" b="1"/>
              <a:t>2) 🌍 Broader Implications for Society</a:t>
            </a:r>
          </a:p>
          <a:p>
            <a:r>
              <a:rPr lang="en-US" sz="1700" b="1"/>
              <a:t>More sustainable and efficient buildings</a:t>
            </a:r>
            <a:r>
              <a:rPr lang="en-US" sz="1700"/>
              <a:t> </a:t>
            </a:r>
          </a:p>
          <a:p>
            <a:pPr lvl="1"/>
            <a:r>
              <a:rPr lang="en-US" sz="1700"/>
              <a:t>AI can evaluate energy performance and suggest improvements in design stages </a:t>
            </a:r>
          </a:p>
          <a:p>
            <a:pPr lvl="1"/>
            <a:r>
              <a:rPr lang="en-US" sz="1700"/>
              <a:t>Reduces material waste and improves resource allocation </a:t>
            </a:r>
          </a:p>
          <a:p>
            <a:r>
              <a:rPr lang="en-US" sz="1700" b="1"/>
              <a:t>Workforce transformation</a:t>
            </a:r>
            <a:r>
              <a:rPr lang="en-US" sz="1700"/>
              <a:t> </a:t>
            </a:r>
          </a:p>
          <a:p>
            <a:pPr lvl="1"/>
            <a:r>
              <a:rPr lang="en-US" sz="1700"/>
              <a:t>Roles in construction and engineering shift toward </a:t>
            </a:r>
            <a:r>
              <a:rPr lang="en-US" sz="1700" b="1"/>
              <a:t>digital and AI literacy</a:t>
            </a:r>
            <a:r>
              <a:rPr lang="en-US" sz="1700"/>
              <a:t> </a:t>
            </a:r>
          </a:p>
          <a:p>
            <a:pPr lvl="1"/>
            <a:r>
              <a:rPr lang="en-US" sz="1700"/>
              <a:t>Less manual drafting, more focus on data analysis, AI supervision, and strategic decision-making </a:t>
            </a:r>
          </a:p>
          <a:p>
            <a:r>
              <a:rPr lang="en-US" sz="1700" b="1"/>
              <a:t>Enhanced safety and quality</a:t>
            </a:r>
            <a:r>
              <a:rPr lang="en-US" sz="1700"/>
              <a:t> </a:t>
            </a:r>
          </a:p>
          <a:p>
            <a:pPr lvl="1"/>
            <a:r>
              <a:rPr lang="en-US" sz="1700"/>
              <a:t>Clash detection and predictive insights reduce onsite mistakes, lowering accident risk and improving overall project quality </a:t>
            </a:r>
          </a:p>
          <a:p>
            <a:r>
              <a:rPr lang="en-US" sz="1700" b="1"/>
              <a:t>Acceleration of smart infrastructure</a:t>
            </a:r>
            <a:r>
              <a:rPr lang="en-US" sz="1700"/>
              <a:t> </a:t>
            </a:r>
          </a:p>
          <a:p>
            <a:pPr lvl="1"/>
            <a:r>
              <a:rPr lang="en-US" sz="1700"/>
              <a:t>Buildings become </a:t>
            </a:r>
            <a:r>
              <a:rPr lang="en-US" sz="1700" b="1"/>
              <a:t>digitally intelligent from the design phase</a:t>
            </a:r>
            <a:r>
              <a:rPr lang="en-US" sz="1700"/>
              <a:t>, aligning with the rise of smart cities and sustainable urban development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300993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BC06F-F4B0-FBB0-FDF0-B24385159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Relevance and Potential Influence on the Construction Industry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A93D6-6EA6-B537-CF49-7BC25D45D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1300" b="1" dirty="0"/>
              <a:t>3) 🏗️ Relevance and Potential Influence on the Construction Industry</a:t>
            </a:r>
          </a:p>
          <a:p>
            <a:r>
              <a:rPr lang="en-US" sz="1300" b="1" dirty="0"/>
              <a:t>Redefining project workflows</a:t>
            </a:r>
            <a:r>
              <a:rPr lang="en-US" sz="1300" dirty="0"/>
              <a:t> </a:t>
            </a:r>
          </a:p>
          <a:p>
            <a:pPr lvl="1"/>
            <a:r>
              <a:rPr lang="en-US" sz="1300" dirty="0"/>
              <a:t>AI + BIM enables </a:t>
            </a:r>
            <a:r>
              <a:rPr lang="en-US" sz="1300" b="1" dirty="0"/>
              <a:t>automation of modeling, scheduling, and coordination</a:t>
            </a:r>
            <a:r>
              <a:rPr lang="en-US" sz="1300" dirty="0"/>
              <a:t>, fundamentally changing how construction projects are executed </a:t>
            </a:r>
          </a:p>
          <a:p>
            <a:r>
              <a:rPr lang="en-US" sz="1300" b="1" dirty="0"/>
              <a:t>Higher efficiency and cost savings</a:t>
            </a:r>
            <a:r>
              <a:rPr lang="en-US" sz="1300" dirty="0"/>
              <a:t> </a:t>
            </a:r>
          </a:p>
          <a:p>
            <a:pPr lvl="1"/>
            <a:r>
              <a:rPr lang="en-US" sz="1300" dirty="0"/>
              <a:t>Reduces design time, prevents costly errors, and improves resource allocation </a:t>
            </a:r>
          </a:p>
          <a:p>
            <a:r>
              <a:rPr lang="en-US" sz="1300" b="1" dirty="0"/>
              <a:t>Competitive advantage</a:t>
            </a:r>
            <a:r>
              <a:rPr lang="en-US" sz="1300" dirty="0"/>
              <a:t> </a:t>
            </a:r>
          </a:p>
          <a:p>
            <a:pPr lvl="1"/>
            <a:r>
              <a:rPr lang="en-US" sz="1300" dirty="0"/>
              <a:t>Firms adopting AI + BIM can deliver higher-quality, faster, and more sustainable projects </a:t>
            </a:r>
          </a:p>
          <a:p>
            <a:r>
              <a:rPr lang="en-US" sz="1300" b="1" dirty="0"/>
              <a:t>Integration of digital ecosystems</a:t>
            </a:r>
            <a:r>
              <a:rPr lang="en-US" sz="1300" dirty="0"/>
              <a:t> </a:t>
            </a:r>
          </a:p>
          <a:p>
            <a:pPr lvl="1"/>
            <a:r>
              <a:rPr lang="en-US" sz="1300" dirty="0"/>
              <a:t>Encourages convergence of design (architects, engineers) and operations (contractors, project managers) </a:t>
            </a:r>
          </a:p>
          <a:p>
            <a:pPr lvl="1"/>
            <a:r>
              <a:rPr lang="en-US" sz="1300" dirty="0"/>
              <a:t>Paves the way for </a:t>
            </a:r>
            <a:r>
              <a:rPr lang="en-US" sz="1300" b="1" dirty="0"/>
              <a:t>continuous feedback loops from design to operation</a:t>
            </a:r>
            <a:r>
              <a:rPr lang="en-US" sz="1300" dirty="0"/>
              <a:t> </a:t>
            </a:r>
          </a:p>
          <a:p>
            <a:r>
              <a:rPr lang="en-US" sz="1300" b="1" dirty="0"/>
              <a:t>Long-term industry transformation</a:t>
            </a:r>
            <a:r>
              <a:rPr lang="en-US" sz="1300" dirty="0"/>
              <a:t> </a:t>
            </a:r>
          </a:p>
          <a:p>
            <a:pPr lvl="1"/>
            <a:r>
              <a:rPr lang="en-US" sz="1300" dirty="0"/>
              <a:t>AI-driven BIM workflows may become the standard in mid-to-large scale construction projects </a:t>
            </a:r>
          </a:p>
          <a:p>
            <a:pPr lvl="1"/>
            <a:r>
              <a:rPr lang="en-US" sz="1300" dirty="0"/>
              <a:t>Promotes more predictive, collaborative, and intelligent construction management </a:t>
            </a:r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575655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449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The impact of integrating artificial intelligence and Building information modeling (BIM) systems on the development of construction methodologies </vt:lpstr>
      <vt:lpstr>Screenshot </vt:lpstr>
      <vt:lpstr>Link To The Source</vt:lpstr>
      <vt:lpstr>Main Findings</vt:lpstr>
      <vt:lpstr>Broader Implications for Society </vt:lpstr>
      <vt:lpstr>Relevance and Potential Influence on the Construction Industry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Elowson</dc:creator>
  <cp:lastModifiedBy>Ed Elowson</cp:lastModifiedBy>
  <cp:revision>1</cp:revision>
  <dcterms:created xsi:type="dcterms:W3CDTF">2026-04-03T18:02:22Z</dcterms:created>
  <dcterms:modified xsi:type="dcterms:W3CDTF">2026-04-03T18:11:07Z</dcterms:modified>
</cp:coreProperties>
</file>