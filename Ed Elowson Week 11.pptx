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9" r:id="rId5"/>
    <p:sldId id="258"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4660"/>
  </p:normalViewPr>
  <p:slideViewPr>
    <p:cSldViewPr snapToGrid="0">
      <p:cViewPr varScale="1">
        <p:scale>
          <a:sx n="94" d="100"/>
          <a:sy n="94" d="100"/>
        </p:scale>
        <p:origin x="66"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3423-CADB-C9B7-4311-B79A16D611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9C7D77-47F4-5C91-9EE9-FBB388E3F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DF9016-D1A2-229E-D6EA-68CCDB1D2A68}"/>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CF78E5AA-8DCF-A258-3240-0B312D9FD1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4ADEB-89F5-D4AE-F7F2-A6CEC6F9B14F}"/>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701821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32D73-61E8-B180-EDF1-9ED31076E7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06857-895E-398A-1470-61C0E94C97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C56BA-57AB-BD8A-6AE2-0403CCE11966}"/>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2FF0BE87-984D-510F-90D7-D9746B155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A0BF3-78A6-F28E-99BE-A7CE8A6697BC}"/>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714019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04FC-2C01-194A-871C-3BF3F67D65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0B4072-996E-FAC6-BFE0-9B65353F6E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7487FB-DB83-D46F-1CC2-2EBA02F23E22}"/>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9ED4AF65-A786-AB33-5A98-6A1BAF582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7376B-A949-7C10-92D6-44A3074B8332}"/>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3233041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BA92-3E35-A8FE-387E-4794CB21AE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29718-08D5-2102-A22F-321CBC2262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D22560-E389-E789-B3E9-128917412B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162673-CC2C-B6AF-B944-5ECCB51C3B6C}"/>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6" name="Footer Placeholder 5">
            <a:extLst>
              <a:ext uri="{FF2B5EF4-FFF2-40B4-BE49-F238E27FC236}">
                <a16:creationId xmlns:a16="http://schemas.microsoft.com/office/drawing/2014/main" id="{E2DB83BE-4D8C-F7D2-59CB-CCAE50D87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1FEFC-A839-9ED4-40EC-69AAD8285435}"/>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2175486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7264-70ED-FC1A-C810-74345F35B8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BAF0DC-3098-287D-DBC8-E4C373F5EF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9F29E4-A19F-881C-1649-A67650C1AB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C5357C-9F29-1425-CBDD-7DDD35251A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76B594-5A38-F0FD-4991-A6FAB18FCD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4613A4-B4E9-AE8E-1FA1-18359AB0983F}"/>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8" name="Footer Placeholder 7">
            <a:extLst>
              <a:ext uri="{FF2B5EF4-FFF2-40B4-BE49-F238E27FC236}">
                <a16:creationId xmlns:a16="http://schemas.microsoft.com/office/drawing/2014/main" id="{10A2F527-5B02-F007-B6E0-147C258099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AF0ADB-64F7-374C-8F94-93AE943036C8}"/>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313155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D4A9-02FF-7755-8CD3-205FB222E7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404E8F-2D91-B835-658E-3D7E63EF26D4}"/>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4" name="Footer Placeholder 3">
            <a:extLst>
              <a:ext uri="{FF2B5EF4-FFF2-40B4-BE49-F238E27FC236}">
                <a16:creationId xmlns:a16="http://schemas.microsoft.com/office/drawing/2014/main" id="{B93DAF97-9C77-878A-B4FD-229EA04797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C9D04F-8353-CC05-300B-39B53AF432D6}"/>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1864427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65D6A1-23B6-92BA-E023-B24C046A307D}"/>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3" name="Footer Placeholder 2">
            <a:extLst>
              <a:ext uri="{FF2B5EF4-FFF2-40B4-BE49-F238E27FC236}">
                <a16:creationId xmlns:a16="http://schemas.microsoft.com/office/drawing/2014/main" id="{4264B911-F0A9-8AE8-AF9B-2AAAB2AC04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A55917-6C89-D52E-D914-5C5B6D2C3055}"/>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2584900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4E84-0A3B-8247-B5DD-282F92E09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57AE60-CFD9-39CA-59C9-BD20C8BCBB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80BBF2-54B5-3BBD-C81D-639EDED68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7FED9B-960D-4349-66B6-0EFB8EE2FDCE}"/>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6" name="Footer Placeholder 5">
            <a:extLst>
              <a:ext uri="{FF2B5EF4-FFF2-40B4-BE49-F238E27FC236}">
                <a16:creationId xmlns:a16="http://schemas.microsoft.com/office/drawing/2014/main" id="{25C9390C-4EE8-FA47-9884-6F1FA2B33A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CAC3CF-606E-7351-D391-2F0DAEF65608}"/>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330717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96E45-43EF-D4AE-4CE5-7861D95271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7C6AD7-A471-31EF-B572-4BFCC0A2B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53DEC4-873B-D663-59D9-FEECCEC35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759795-3D3F-133C-32F9-A00E1C572018}"/>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6" name="Footer Placeholder 5">
            <a:extLst>
              <a:ext uri="{FF2B5EF4-FFF2-40B4-BE49-F238E27FC236}">
                <a16:creationId xmlns:a16="http://schemas.microsoft.com/office/drawing/2014/main" id="{AC5A2EA3-C344-D329-9B9F-4467571E65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E32B1-BE4C-B43F-76E5-31976A8A0A7D}"/>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1001278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8808-7F32-2D54-0A82-1CE7139B35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458090-9B70-8E98-A864-11F0E31C1D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CECCC-F3ED-1A0F-E312-112E6A59E855}"/>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FC5076BA-1266-2D18-F2DF-21019392C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9B8F2-19F4-B2FB-E121-94A1DCB7C1A1}"/>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55534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270B04-D1F6-B5A5-916C-A4F6EC836E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5825FE-DC00-F987-3D28-CF2658FB50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36707-CAA4-A330-47E3-1D6464D5BA82}"/>
              </a:ext>
            </a:extLst>
          </p:cNvPr>
          <p:cNvSpPr>
            <a:spLocks noGrp="1"/>
          </p:cNvSpPr>
          <p:nvPr>
            <p:ph type="dt" sz="half" idx="10"/>
          </p:nvPr>
        </p:nvSpPr>
        <p:spPr/>
        <p:txBody>
          <a:body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BC656E31-2DCC-D454-B880-8F5A86C1D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14143B-F6F2-0E40-B7DC-2824311ECC39}"/>
              </a:ext>
            </a:extLst>
          </p:cNvPr>
          <p:cNvSpPr>
            <a:spLocks noGrp="1"/>
          </p:cNvSpPr>
          <p:nvPr>
            <p:ph type="sldNum" sz="quarter" idx="12"/>
          </p:nvPr>
        </p:nvSpPr>
        <p:spPr/>
        <p:txBody>
          <a:bodyPr/>
          <a:lstStyle/>
          <a:p>
            <a:fld id="{2E970DB4-885D-4885-9EF7-7B6F0BAA04F3}" type="slidenum">
              <a:rPr lang="en-US" smtClean="0"/>
              <a:t>‹#›</a:t>
            </a:fld>
            <a:endParaRPr lang="en-US"/>
          </a:p>
        </p:txBody>
      </p:sp>
    </p:spTree>
    <p:extLst>
      <p:ext uri="{BB962C8B-B14F-4D97-AF65-F5344CB8AC3E}">
        <p14:creationId xmlns:p14="http://schemas.microsoft.com/office/powerpoint/2010/main" val="124737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1AFE92-9565-BF8C-5809-83E7287390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527E8D-C65F-E22D-F323-D443021D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631489-C077-D9EB-13CE-A42F01C67D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53D31C-4932-4D6D-B1F3-FBA6EAAEF00E}" type="datetimeFigureOut">
              <a:rPr lang="en-US" smtClean="0"/>
              <a:t>5/8/2026</a:t>
            </a:fld>
            <a:endParaRPr lang="en-US"/>
          </a:p>
        </p:txBody>
      </p:sp>
      <p:sp>
        <p:nvSpPr>
          <p:cNvPr id="5" name="Footer Placeholder 4">
            <a:extLst>
              <a:ext uri="{FF2B5EF4-FFF2-40B4-BE49-F238E27FC236}">
                <a16:creationId xmlns:a16="http://schemas.microsoft.com/office/drawing/2014/main" id="{64FE931A-02F9-C61D-F647-DC9333C2F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D34306-A640-5C4E-D9B9-2ED32DCB0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970DB4-885D-4885-9EF7-7B6F0BAA04F3}" type="slidenum">
              <a:rPr lang="en-US" smtClean="0"/>
              <a:t>‹#›</a:t>
            </a:fld>
            <a:endParaRPr lang="en-US"/>
          </a:p>
        </p:txBody>
      </p:sp>
    </p:spTree>
    <p:extLst>
      <p:ext uri="{BB962C8B-B14F-4D97-AF65-F5344CB8AC3E}">
        <p14:creationId xmlns:p14="http://schemas.microsoft.com/office/powerpoint/2010/main" val="2761603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E7AA7E8-8006-4E1F-A566-FCF37EE6F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DCBCBC4-2C36-B765-0589-6B448E7ED56E}"/>
              </a:ext>
            </a:extLst>
          </p:cNvPr>
          <p:cNvSpPr>
            <a:spLocks noGrp="1"/>
          </p:cNvSpPr>
          <p:nvPr>
            <p:ph type="ctrTitle"/>
          </p:nvPr>
        </p:nvSpPr>
        <p:spPr>
          <a:xfrm>
            <a:off x="242910" y="1598246"/>
            <a:ext cx="4626709" cy="5122985"/>
          </a:xfrm>
        </p:spPr>
        <p:txBody>
          <a:bodyPr anchor="t">
            <a:normAutofit/>
          </a:bodyPr>
          <a:lstStyle/>
          <a:p>
            <a:pPr algn="r"/>
            <a:r>
              <a:rPr lang="en-US" sz="5600" b="1">
                <a:solidFill>
                  <a:srgbClr val="FFFFFF"/>
                </a:solidFill>
              </a:rPr>
              <a:t>Data Centers Are a ‘Gold Rush’ for Construction Workers</a:t>
            </a:r>
            <a:br>
              <a:rPr lang="en-US" sz="5600" b="1">
                <a:solidFill>
                  <a:srgbClr val="FFFFFF"/>
                </a:solidFill>
              </a:rPr>
            </a:br>
            <a:endParaRPr lang="en-US" sz="5600">
              <a:solidFill>
                <a:srgbClr val="FFFFFF"/>
              </a:solidFill>
            </a:endParaRPr>
          </a:p>
        </p:txBody>
      </p:sp>
      <p:sp>
        <p:nvSpPr>
          <p:cNvPr id="3" name="Subtitle 2">
            <a:extLst>
              <a:ext uri="{FF2B5EF4-FFF2-40B4-BE49-F238E27FC236}">
                <a16:creationId xmlns:a16="http://schemas.microsoft.com/office/drawing/2014/main" id="{BDA65FC4-BA6D-A1D3-FC7E-C0CBB8416111}"/>
              </a:ext>
            </a:extLst>
          </p:cNvPr>
          <p:cNvSpPr>
            <a:spLocks noGrp="1"/>
          </p:cNvSpPr>
          <p:nvPr>
            <p:ph type="subTitle" idx="1"/>
          </p:nvPr>
        </p:nvSpPr>
        <p:spPr>
          <a:xfrm>
            <a:off x="5792994" y="1590840"/>
            <a:ext cx="5672176" cy="5095221"/>
          </a:xfrm>
        </p:spPr>
        <p:txBody>
          <a:bodyPr>
            <a:normAutofit/>
          </a:bodyPr>
          <a:lstStyle/>
          <a:p>
            <a:pPr algn="l"/>
            <a:r>
              <a:rPr lang="en-US" sz="4400">
                <a:solidFill>
                  <a:srgbClr val="FFFFFF"/>
                </a:solidFill>
              </a:rPr>
              <a:t>Week 11 Ed Elowson</a:t>
            </a:r>
          </a:p>
        </p:txBody>
      </p:sp>
      <p:cxnSp>
        <p:nvCxnSpPr>
          <p:cNvPr id="10" name="Straight Connector 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51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B8FA6-0247-145F-A964-BCC7D4838A4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27310E4-68AC-5FF8-5AE6-C4AFBA772CB7}"/>
              </a:ext>
            </a:extLst>
          </p:cNvPr>
          <p:cNvPicPr>
            <a:picLocks noGrp="1" noChangeAspect="1"/>
          </p:cNvPicPr>
          <p:nvPr>
            <p:ph idx="1"/>
          </p:nvPr>
        </p:nvPicPr>
        <p:blipFill>
          <a:blip r:embed="rId2"/>
          <a:srcRect r="-1" b="5506"/>
          <a:stretch>
            <a:fillRect/>
          </a:stretch>
        </p:blipFill>
        <p:spPr>
          <a:xfrm>
            <a:off x="5101771" y="10"/>
            <a:ext cx="7094361" cy="6857989"/>
          </a:xfrm>
          <a:prstGeom prst="rect">
            <a:avLst/>
          </a:prstGeom>
        </p:spPr>
      </p:pic>
      <p:sp>
        <p:nvSpPr>
          <p:cNvPr id="10" name="Rectangle 9">
            <a:extLst>
              <a:ext uri="{FF2B5EF4-FFF2-40B4-BE49-F238E27FC236}">
                <a16:creationId xmlns:a16="http://schemas.microsoft.com/office/drawing/2014/main" id="{A34066D6-1B59-4642-A86D-39464CEE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527208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18E928D9-3091-4385-B979-265D55AD0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3011">
            <a:off x="1718653" y="70086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25C5FE-FB2D-61AD-0B09-CBF0E6370A0B}"/>
              </a:ext>
            </a:extLst>
          </p:cNvPr>
          <p:cNvSpPr>
            <a:spLocks noGrp="1"/>
          </p:cNvSpPr>
          <p:nvPr>
            <p:ph type="title"/>
          </p:nvPr>
        </p:nvSpPr>
        <p:spPr>
          <a:xfrm>
            <a:off x="643467" y="795509"/>
            <a:ext cx="4092525" cy="2798604"/>
          </a:xfrm>
        </p:spPr>
        <p:txBody>
          <a:bodyPr vert="horz" lIns="91440" tIns="45720" rIns="91440" bIns="45720" rtlCol="0" anchor="b">
            <a:normAutofit/>
          </a:bodyPr>
          <a:lstStyle/>
          <a:p>
            <a:pPr algn="ctr"/>
            <a:r>
              <a:rPr lang="en-US" sz="6000">
                <a:solidFill>
                  <a:srgbClr val="FFFFFF"/>
                </a:solidFill>
              </a:rPr>
              <a:t>Screenshot</a:t>
            </a:r>
          </a:p>
        </p:txBody>
      </p:sp>
      <p:sp>
        <p:nvSpPr>
          <p:cNvPr id="14" name="Oval 13">
            <a:extLst>
              <a:ext uri="{FF2B5EF4-FFF2-40B4-BE49-F238E27FC236}">
                <a16:creationId xmlns:a16="http://schemas.microsoft.com/office/drawing/2014/main" id="{7D602432-D774-4CF5-94E8-7D52D0105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186" y="4626633"/>
            <a:ext cx="491961" cy="49196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BF9EBB4-5078-47B2-AAA0-DF4A88D81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27932" y="5011563"/>
            <a:ext cx="731558" cy="731558"/>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276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001AFEA-2442-4A9F-BA37-8C469F306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699190F-A341-3BDB-FA43-41DFDF1351D4}"/>
              </a:ext>
            </a:extLst>
          </p:cNvPr>
          <p:cNvSpPr>
            <a:spLocks noGrp="1"/>
          </p:cNvSpPr>
          <p:nvPr>
            <p:ph type="title"/>
          </p:nvPr>
        </p:nvSpPr>
        <p:spPr>
          <a:xfrm>
            <a:off x="970908" y="637046"/>
            <a:ext cx="5174207" cy="2971473"/>
          </a:xfrm>
        </p:spPr>
        <p:txBody>
          <a:bodyPr vert="horz" lIns="91440" tIns="45720" rIns="91440" bIns="45720" rtlCol="0" anchor="b">
            <a:normAutofit/>
          </a:bodyPr>
          <a:lstStyle/>
          <a:p>
            <a:r>
              <a:rPr lang="en-US" sz="6000" kern="1200">
                <a:solidFill>
                  <a:srgbClr val="FFFFFF"/>
                </a:solidFill>
                <a:latin typeface="+mj-lt"/>
                <a:ea typeface="+mj-ea"/>
                <a:cs typeface="+mj-cs"/>
              </a:rPr>
              <a:t>Link To The Source </a:t>
            </a:r>
          </a:p>
        </p:txBody>
      </p:sp>
      <p:sp>
        <p:nvSpPr>
          <p:cNvPr id="3" name="Content Placeholder 2">
            <a:extLst>
              <a:ext uri="{FF2B5EF4-FFF2-40B4-BE49-F238E27FC236}">
                <a16:creationId xmlns:a16="http://schemas.microsoft.com/office/drawing/2014/main" id="{C85EB190-933E-EE27-8643-D31FDDFC1147}"/>
              </a:ext>
            </a:extLst>
          </p:cNvPr>
          <p:cNvSpPr>
            <a:spLocks noGrp="1"/>
          </p:cNvSpPr>
          <p:nvPr>
            <p:ph idx="1"/>
          </p:nvPr>
        </p:nvSpPr>
        <p:spPr>
          <a:xfrm>
            <a:off x="970908" y="3700594"/>
            <a:ext cx="5174207" cy="1963486"/>
          </a:xfrm>
        </p:spPr>
        <p:txBody>
          <a:bodyPr vert="horz" lIns="91440" tIns="45720" rIns="91440" bIns="45720" rtlCol="0">
            <a:normAutofit/>
          </a:bodyPr>
          <a:lstStyle/>
          <a:p>
            <a:pPr marL="0" indent="0">
              <a:buNone/>
            </a:pPr>
            <a:r>
              <a:rPr lang="en-US" sz="2400" kern="1200">
                <a:solidFill>
                  <a:srgbClr val="FFFFFF"/>
                </a:solidFill>
                <a:latin typeface="+mn-lt"/>
                <a:ea typeface="+mn-ea"/>
                <a:cs typeface="+mn-cs"/>
              </a:rPr>
              <a:t>https://www.wsj.com/business/data-centers-are-a-gold-rush-for-construction-workers-6e3c5ce0</a:t>
            </a:r>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4"/>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4"/>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872052">
            <a:off x="611325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32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01E180-A259-26C7-8F2D-76EA5C4A3C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C9F65B-E06E-0D1D-4BB0-8CA305ADDF34}"/>
              </a:ext>
            </a:extLst>
          </p:cNvPr>
          <p:cNvSpPr>
            <a:spLocks noGrp="1"/>
          </p:cNvSpPr>
          <p:nvPr>
            <p:ph type="title"/>
          </p:nvPr>
        </p:nvSpPr>
        <p:spPr>
          <a:xfrm>
            <a:off x="686834" y="1153572"/>
            <a:ext cx="3200400" cy="4461163"/>
          </a:xfrm>
        </p:spPr>
        <p:txBody>
          <a:bodyPr>
            <a:normAutofit/>
          </a:bodyPr>
          <a:lstStyle/>
          <a:p>
            <a:r>
              <a:rPr lang="en-US">
                <a:solidFill>
                  <a:srgbClr val="FFFFFF"/>
                </a:solidFill>
              </a:rPr>
              <a:t>Main Findings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2">
            <a:extLst>
              <a:ext uri="{FF2B5EF4-FFF2-40B4-BE49-F238E27FC236}">
                <a16:creationId xmlns:a16="http://schemas.microsoft.com/office/drawing/2014/main" id="{44DE1821-2DB8-1109-B146-0108F55F3491}"/>
              </a:ext>
            </a:extLst>
          </p:cNvPr>
          <p:cNvSpPr>
            <a:spLocks noGrp="1"/>
          </p:cNvSpPr>
          <p:nvPr>
            <p:ph idx="1"/>
          </p:nvPr>
        </p:nvSpPr>
        <p:spPr>
          <a:xfrm>
            <a:off x="4447308" y="591344"/>
            <a:ext cx="6906491" cy="5585619"/>
          </a:xfrm>
        </p:spPr>
        <p:txBody>
          <a:bodyPr anchor="ctr">
            <a:normAutofit/>
          </a:bodyPr>
          <a:lstStyle/>
          <a:p>
            <a:r>
              <a:rPr lang="en-US" sz="1500"/>
              <a:t>The article argues that the rapid expansion of artificial intelligence is fueling an unprecedented boom in data-center construction, creating major opportunities for skilled construction workers. As companies like Amazon, Google, and Microsoft race to build AI infrastructure, demand for electricians, welders, project managers, and other trades has surged. Workers are seeing major salary increases, bonuses, improved benefits, and greater job stability. </a:t>
            </a:r>
          </a:p>
          <a:p>
            <a:r>
              <a:rPr lang="en-US" sz="1500"/>
              <a:t>A key finding is that AI is indirectly reshaping the labor market within construction. While AI is often associated with automation replacing jobs, this article shows that AI can also generate entirely new categories of work. The complexity and scale of data-center projects require thousands of skilled workers, and companies are struggling to fill positions because of existing labor shortages in the trades. </a:t>
            </a:r>
          </a:p>
          <a:p>
            <a:r>
              <a:rPr lang="en-US" sz="1500"/>
              <a:t>The article also highlights how competition among contractors has intensified. Companies are offering perks such as incentive pay, paid time off, air-conditioned break tents, remote management positions, and flexible travel arrangements to attract and retain talent. Construction firms increasingly describe the AI infrastructure market as a “gold rush” because of the large volume of available work and the high wages attached to it.</a:t>
            </a:r>
          </a:p>
          <a:p>
            <a:endParaRPr lang="en-US" sz="1500"/>
          </a:p>
        </p:txBody>
      </p:sp>
    </p:spTree>
    <p:extLst>
      <p:ext uri="{BB962C8B-B14F-4D97-AF65-F5344CB8AC3E}">
        <p14:creationId xmlns:p14="http://schemas.microsoft.com/office/powerpoint/2010/main" val="2316926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B71B44-01CE-ED58-E77D-F98FD9F48A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2275AF-8D89-38A6-8FDD-E080D2D2EF6E}"/>
              </a:ext>
            </a:extLst>
          </p:cNvPr>
          <p:cNvSpPr>
            <a:spLocks noGrp="1"/>
          </p:cNvSpPr>
          <p:nvPr>
            <p:ph type="title"/>
          </p:nvPr>
        </p:nvSpPr>
        <p:spPr>
          <a:xfrm>
            <a:off x="686834" y="1153572"/>
            <a:ext cx="3200400" cy="4461163"/>
          </a:xfrm>
        </p:spPr>
        <p:txBody>
          <a:bodyPr>
            <a:normAutofit/>
          </a:bodyPr>
          <a:lstStyle/>
          <a:p>
            <a:r>
              <a:rPr lang="en-US">
                <a:solidFill>
                  <a:srgbClr val="FFFFFF"/>
                </a:solidFill>
              </a:rPr>
              <a:t>Broader Implications for Society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BB542BF-C4E5-AB93-58E6-DBEE4B7D2263}"/>
              </a:ext>
            </a:extLst>
          </p:cNvPr>
          <p:cNvSpPr>
            <a:spLocks noGrp="1"/>
          </p:cNvSpPr>
          <p:nvPr>
            <p:ph idx="1"/>
          </p:nvPr>
        </p:nvSpPr>
        <p:spPr>
          <a:xfrm>
            <a:off x="4447308" y="591344"/>
            <a:ext cx="6906491" cy="5585619"/>
          </a:xfrm>
        </p:spPr>
        <p:txBody>
          <a:bodyPr anchor="ctr">
            <a:normAutofit/>
          </a:bodyPr>
          <a:lstStyle/>
          <a:p>
            <a:r>
              <a:rPr lang="en-US" sz="1800" b="1"/>
              <a:t>2. Broader Implications for Society</a:t>
            </a:r>
          </a:p>
          <a:p>
            <a:r>
              <a:rPr lang="en-US" sz="1800"/>
              <a:t>The article suggests that AI’s societal impact extends far beyond software and office jobs. The growth of AI infrastructure is reshaping regional economies, labor markets, and workforce development. Skilled trade workers who historically faced inconsistent employment are now experiencing greater financial security and long-term career opportunities. </a:t>
            </a:r>
          </a:p>
          <a:p>
            <a:r>
              <a:rPr lang="en-US" sz="1800"/>
              <a:t>Another broader implication is the renewed importance of vocational and technical education. As demand for electricians, pipefitters, and other skilled labor rises, apprenticeship programs and unions are expanding membership rapidly. This could shift societal perceptions about trade careers, making them more attractive alternatives to traditional four-year college pathways. </a:t>
            </a:r>
          </a:p>
          <a:p>
            <a:r>
              <a:rPr lang="en-US" sz="1800"/>
              <a:t>The article also raises questions about sustainability and infrastructure demands. AI systems require enormous amounts of computing power, which in turn drives massive investments in energy-intensive data centers. This creates long-term societal concerns involving electricity consumption, environmental impacts, land use, and resource allocation as AI adoption continues to grow globally. </a:t>
            </a:r>
          </a:p>
          <a:p>
            <a:endParaRPr lang="en-US" sz="1800"/>
          </a:p>
        </p:txBody>
      </p:sp>
    </p:spTree>
    <p:extLst>
      <p:ext uri="{BB962C8B-B14F-4D97-AF65-F5344CB8AC3E}">
        <p14:creationId xmlns:p14="http://schemas.microsoft.com/office/powerpoint/2010/main" val="234782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B7F92E-DCBC-C236-8558-367004BC8B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DF8A67-E333-3C15-A3AD-1F74CBA983E0}"/>
              </a:ext>
            </a:extLst>
          </p:cNvPr>
          <p:cNvSpPr>
            <a:spLocks noGrp="1"/>
          </p:cNvSpPr>
          <p:nvPr>
            <p:ph type="title"/>
          </p:nvPr>
        </p:nvSpPr>
        <p:spPr>
          <a:xfrm>
            <a:off x="686834" y="1153572"/>
            <a:ext cx="3200400" cy="4461163"/>
          </a:xfrm>
        </p:spPr>
        <p:txBody>
          <a:bodyPr>
            <a:normAutofit/>
          </a:bodyPr>
          <a:lstStyle/>
          <a:p>
            <a:r>
              <a:rPr lang="en-US">
                <a:solidFill>
                  <a:srgbClr val="FFFFFF"/>
                </a:solidFill>
              </a:rPr>
              <a:t>Relevance or Potential Influence on the Construction Industry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AF7F2C9-C616-8495-9F19-1AD7B4B09AD6}"/>
              </a:ext>
            </a:extLst>
          </p:cNvPr>
          <p:cNvSpPr>
            <a:spLocks noGrp="1"/>
          </p:cNvSpPr>
          <p:nvPr>
            <p:ph idx="1"/>
          </p:nvPr>
        </p:nvSpPr>
        <p:spPr>
          <a:xfrm>
            <a:off x="4447308" y="591344"/>
            <a:ext cx="6906491" cy="5585619"/>
          </a:xfrm>
        </p:spPr>
        <p:txBody>
          <a:bodyPr anchor="ctr">
            <a:normAutofit/>
          </a:bodyPr>
          <a:lstStyle/>
          <a:p>
            <a:r>
              <a:rPr lang="en-US" sz="1800"/>
              <a:t>The article demonstrates that AI is already transforming the construction industry indirectly through infrastructure demand. Data centers are becoming one of the fastest-growing sectors in construction, leading firms to prioritize specialized expertise in electrical systems, cooling systems, concrete work, and large-scale project coordination. </a:t>
            </a:r>
          </a:p>
          <a:p>
            <a:r>
              <a:rPr lang="en-US" sz="1800"/>
              <a:t>It also highlights a growing labor shortage challenge within construction. Because data-center projects pay significantly more than traditional construction work, labor may increasingly shift away from commercial, residential, or public infrastructure projects toward AI-related developments. This could increase costs and delays in other parts of the construction industry. </a:t>
            </a:r>
          </a:p>
          <a:p>
            <a:r>
              <a:rPr lang="en-US" sz="1800"/>
              <a:t>Finally, the article suggests that AI-driven construction demand may permanently reshape workforce expectations and business practices. Contractors are adopting new recruitment strategies, offering better benefits, and investing more heavily in worker retention. The industry may increasingly rely on technology-enabled coordination, remote project management, and highly specialized labor pipelines to meet the scale of future AI infrastructure projects. </a:t>
            </a:r>
          </a:p>
          <a:p>
            <a:endParaRPr lang="en-US" sz="1800"/>
          </a:p>
        </p:txBody>
      </p:sp>
    </p:spTree>
    <p:extLst>
      <p:ext uri="{BB962C8B-B14F-4D97-AF65-F5344CB8AC3E}">
        <p14:creationId xmlns:p14="http://schemas.microsoft.com/office/powerpoint/2010/main" val="646864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4B7C-98D5-7DB3-8B61-11169CE8D9F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74180AB-209B-42C4-BC52-6A05CAADCE79}"/>
              </a:ext>
            </a:extLst>
          </p:cNvPr>
          <p:cNvPicPr>
            <a:picLocks noChangeAspect="1"/>
          </p:cNvPicPr>
          <p:nvPr/>
        </p:nvPicPr>
        <p:blipFill>
          <a:blip r:embed="rId2"/>
          <a:stretch>
            <a:fillRect/>
          </a:stretch>
        </p:blipFill>
        <p:spPr>
          <a:xfrm>
            <a:off x="0" y="0"/>
            <a:ext cx="12263120" cy="6858000"/>
          </a:xfrm>
          <a:prstGeom prst="rect">
            <a:avLst/>
          </a:prstGeom>
        </p:spPr>
      </p:pic>
    </p:spTree>
    <p:extLst>
      <p:ext uri="{BB962C8B-B14F-4D97-AF65-F5344CB8AC3E}">
        <p14:creationId xmlns:p14="http://schemas.microsoft.com/office/powerpoint/2010/main" val="2263670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597</Words>
  <Application>Microsoft Office PowerPoint</Application>
  <PresentationFormat>Widescreen</PresentationFormat>
  <Paragraphs>18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Data Centers Are a ‘Gold Rush’ for Construction Workers </vt:lpstr>
      <vt:lpstr>Screenshot</vt:lpstr>
      <vt:lpstr>Link To The Source </vt:lpstr>
      <vt:lpstr>Main Findings </vt:lpstr>
      <vt:lpstr>Broader Implications for Society</vt:lpstr>
      <vt:lpstr>Relevance or Potential Influence on the Construction Industry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2026-05-08T21:07:53Z</dcterms:created>
  <dcterms:modified xsi:type="dcterms:W3CDTF">2026-05-08T21:18:02Z</dcterms:modified>
</cp:coreProperties>
</file>