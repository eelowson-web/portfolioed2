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61" r:id="rId5"/>
    <p:sldId id="260" r:id="rId6"/>
    <p:sldId id="259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0" autoAdjust="0"/>
    <p:restoredTop sz="94660"/>
  </p:normalViewPr>
  <p:slideViewPr>
    <p:cSldViewPr snapToGrid="0">
      <p:cViewPr varScale="1">
        <p:scale>
          <a:sx n="96" d="100"/>
          <a:sy n="96" d="100"/>
        </p:scale>
        <p:origin x="102" y="6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 Elowson" userId="e02f2ad9-260d-48b9-ae49-41519fd3a61b" providerId="ADAL" clId="{23F062E9-8A7E-4154-82CB-2E761C864A24}"/>
    <pc:docChg chg="addSld modSld">
      <pc:chgData name="Ed Elowson" userId="e02f2ad9-260d-48b9-ae49-41519fd3a61b" providerId="ADAL" clId="{23F062E9-8A7E-4154-82CB-2E761C864A24}" dt="2026-04-03T17:40:38.546" v="11" actId="1076"/>
      <pc:docMkLst>
        <pc:docMk/>
      </pc:docMkLst>
      <pc:sldChg chg="addSp modSp new mod">
        <pc:chgData name="Ed Elowson" userId="e02f2ad9-260d-48b9-ae49-41519fd3a61b" providerId="ADAL" clId="{23F062E9-8A7E-4154-82CB-2E761C864A24}" dt="2026-04-03T17:40:38.546" v="11" actId="1076"/>
        <pc:sldMkLst>
          <pc:docMk/>
          <pc:sldMk cId="3203422603" sldId="262"/>
        </pc:sldMkLst>
        <pc:picChg chg="add mod">
          <ac:chgData name="Ed Elowson" userId="e02f2ad9-260d-48b9-ae49-41519fd3a61b" providerId="ADAL" clId="{23F062E9-8A7E-4154-82CB-2E761C864A24}" dt="2026-04-03T17:40:38.546" v="11" actId="1076"/>
          <ac:picMkLst>
            <pc:docMk/>
            <pc:sldMk cId="3203422603" sldId="262"/>
            <ac:picMk id="3" creationId="{14438336-9E79-170B-DFA2-2F7AB36E09BC}"/>
          </ac:picMkLst>
        </pc:picChg>
        <pc:picChg chg="add mod">
          <ac:chgData name="Ed Elowson" userId="e02f2ad9-260d-48b9-ae49-41519fd3a61b" providerId="ADAL" clId="{23F062E9-8A7E-4154-82CB-2E761C864A24}" dt="2026-04-03T17:40:36.080" v="10" actId="1076"/>
          <ac:picMkLst>
            <pc:docMk/>
            <pc:sldMk cId="3203422603" sldId="262"/>
            <ac:picMk id="5" creationId="{0106D5D9-7503-9EB5-0FDD-D9C16228FE8A}"/>
          </ac:picMkLst>
        </pc:picChg>
        <pc:picChg chg="add mod">
          <ac:chgData name="Ed Elowson" userId="e02f2ad9-260d-48b9-ae49-41519fd3a61b" providerId="ADAL" clId="{23F062E9-8A7E-4154-82CB-2E761C864A24}" dt="2026-04-03T17:40:35.257" v="9" actId="1076"/>
          <ac:picMkLst>
            <pc:docMk/>
            <pc:sldMk cId="3203422603" sldId="262"/>
            <ac:picMk id="7" creationId="{9E1C3E48-80C1-1478-9608-2ED5B4C9A31D}"/>
          </ac:picMkLst>
        </pc:picChg>
        <pc:picChg chg="add mod">
          <ac:chgData name="Ed Elowson" userId="e02f2ad9-260d-48b9-ae49-41519fd3a61b" providerId="ADAL" clId="{23F062E9-8A7E-4154-82CB-2E761C864A24}" dt="2026-04-03T17:40:34.154" v="8" actId="1076"/>
          <ac:picMkLst>
            <pc:docMk/>
            <pc:sldMk cId="3203422603" sldId="262"/>
            <ac:picMk id="9" creationId="{B5C9E811-8913-A97B-5C9D-30429418F2A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163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86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212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353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032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677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351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606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017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947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29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50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1E9B5B-C030-A810-F756-1352D5B6AE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669" r="-1" b="6039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637992A9-1E8C-4E57-B4F4-EE2D38E50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1EDBC5-8002-A856-BD52-6DCAEED1ED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5021182" cy="3309511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600" b="0">
                <a:solidFill>
                  <a:srgbClr val="FFFFFF"/>
                </a:solidFill>
              </a:rPr>
              <a:t>What is AI in facilities management?</a:t>
            </a:r>
            <a:br>
              <a:rPr lang="en-US" sz="5600" b="0">
                <a:solidFill>
                  <a:srgbClr val="FFFFFF"/>
                </a:solidFill>
              </a:rPr>
            </a:br>
            <a:endParaRPr lang="en-US" sz="56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716F77-1363-E45C-F085-D4878EBBBD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4482450"/>
            <a:ext cx="5040785" cy="1724029"/>
          </a:xfrm>
        </p:spPr>
        <p:txBody>
          <a:bodyPr anchor="t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Week 6 Ed Elowson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9782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D0CB9-9FEB-A092-E92D-75987C280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44C96E-7876-5263-3FB6-591B053E5C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11403" y="2578100"/>
            <a:ext cx="3375543" cy="3767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197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F49ED-F8C3-C642-AC71-3A85563091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Link to the Source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3DC1C3-EC1F-64AE-FC37-747124071F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https://www.ibm.com/think/topics/ai-in-facilities-management</a:t>
            </a:r>
          </a:p>
        </p:txBody>
      </p:sp>
    </p:spTree>
    <p:extLst>
      <p:ext uri="{BB962C8B-B14F-4D97-AF65-F5344CB8AC3E}">
        <p14:creationId xmlns:p14="http://schemas.microsoft.com/office/powerpoint/2010/main" val="2495913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082E5AA-6E5F-4FCC-8C41-11E32F833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DA7B65-A8AF-7DDC-E591-BD9462A2F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102352" cy="1664208"/>
          </a:xfrm>
        </p:spPr>
        <p:txBody>
          <a:bodyPr>
            <a:normAutofit/>
          </a:bodyPr>
          <a:lstStyle/>
          <a:p>
            <a:r>
              <a:rPr lang="en-US" dirty="0"/>
              <a:t>Main Findings</a:t>
            </a:r>
            <a:br>
              <a:rPr lang="en-US" dirty="0"/>
            </a:b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5622" y="612648"/>
            <a:ext cx="551383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7104F875-0018-0EF1-8ADE-F813B4612F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8419" y="2834640"/>
            <a:ext cx="3511296" cy="351129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95A18-D3BA-CD17-EDB3-2BC5A04B5A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3056" y="978408"/>
            <a:ext cx="2921309" cy="5367528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00000"/>
              </a:lnSpc>
            </a:pPr>
            <a:r>
              <a:rPr lang="en-US" sz="1500" b="1" dirty="0"/>
              <a:t>Core findings:</a:t>
            </a:r>
          </a:p>
          <a:p>
            <a:pPr>
              <a:lnSpc>
                <a:spcPct val="100000"/>
              </a:lnSpc>
            </a:pPr>
            <a:r>
              <a:rPr lang="en-US" sz="1500" b="1" dirty="0"/>
              <a:t>AI shifts FM from reactive → predictive</a:t>
            </a:r>
            <a:r>
              <a:rPr lang="en-US" sz="1500" dirty="0"/>
              <a:t> </a:t>
            </a:r>
          </a:p>
          <a:p>
            <a:pPr lvl="1">
              <a:lnSpc>
                <a:spcPct val="100000"/>
              </a:lnSpc>
            </a:pPr>
            <a:r>
              <a:rPr lang="en-US" sz="1500" dirty="0"/>
              <a:t>Traditional FM reacts to failures or follows fixed schedules </a:t>
            </a:r>
          </a:p>
          <a:p>
            <a:pPr lvl="1">
              <a:lnSpc>
                <a:spcPct val="100000"/>
              </a:lnSpc>
            </a:pPr>
            <a:r>
              <a:rPr lang="en-US" sz="1500" dirty="0"/>
              <a:t>AI uses real-time + historical data to anticipate issues before they happen </a:t>
            </a:r>
          </a:p>
          <a:p>
            <a:pPr>
              <a:lnSpc>
                <a:spcPct val="100000"/>
              </a:lnSpc>
            </a:pPr>
            <a:r>
              <a:rPr lang="en-US" sz="1500" b="1" dirty="0"/>
              <a:t>IoT + AI is the backbone of modern FM</a:t>
            </a:r>
            <a:r>
              <a:rPr lang="en-US" sz="1500" dirty="0"/>
              <a:t> </a:t>
            </a:r>
          </a:p>
          <a:p>
            <a:pPr lvl="1">
              <a:lnSpc>
                <a:spcPct val="100000"/>
              </a:lnSpc>
            </a:pPr>
            <a:r>
              <a:rPr lang="en-US" sz="1500" dirty="0"/>
              <a:t>Sensors embedded in buildings generate continuous data </a:t>
            </a:r>
          </a:p>
          <a:p>
            <a:pPr lvl="1">
              <a:lnSpc>
                <a:spcPct val="100000"/>
              </a:lnSpc>
            </a:pPr>
            <a:r>
              <a:rPr lang="en-US" sz="1500" dirty="0"/>
              <a:t>AI analyzes this data to: </a:t>
            </a:r>
          </a:p>
          <a:p>
            <a:pPr lvl="2">
              <a:lnSpc>
                <a:spcPct val="100000"/>
              </a:lnSpc>
            </a:pPr>
            <a:r>
              <a:rPr lang="en-US" sz="1500" dirty="0"/>
              <a:t>Predict failures </a:t>
            </a:r>
          </a:p>
          <a:p>
            <a:pPr lvl="2">
              <a:lnSpc>
                <a:spcPct val="100000"/>
              </a:lnSpc>
            </a:pPr>
            <a:r>
              <a:rPr lang="en-US" sz="1500" dirty="0"/>
              <a:t>Optimize energy use </a:t>
            </a:r>
          </a:p>
          <a:p>
            <a:pPr lvl="2">
              <a:lnSpc>
                <a:spcPct val="100000"/>
              </a:lnSpc>
            </a:pPr>
            <a:r>
              <a:rPr lang="en-US" sz="1500" dirty="0"/>
              <a:t>Monitor occupancy and asset performance </a:t>
            </a:r>
          </a:p>
          <a:p>
            <a:pPr>
              <a:lnSpc>
                <a:spcPct val="100000"/>
              </a:lnSpc>
            </a:pPr>
            <a:r>
              <a:rPr lang="en-US" sz="1500" b="1" dirty="0"/>
              <a:t>Key AI applications drive operational improvements</a:t>
            </a:r>
            <a:r>
              <a:rPr lang="en-US" sz="1500" dirty="0"/>
              <a:t> </a:t>
            </a:r>
          </a:p>
          <a:p>
            <a:pPr lvl="1">
              <a:lnSpc>
                <a:spcPct val="100000"/>
              </a:lnSpc>
            </a:pPr>
            <a:r>
              <a:rPr lang="en-US" sz="1500" dirty="0"/>
              <a:t>Predictive maintenance → reduces downtime </a:t>
            </a:r>
          </a:p>
          <a:p>
            <a:pPr lvl="1">
              <a:lnSpc>
                <a:spcPct val="100000"/>
              </a:lnSpc>
            </a:pPr>
            <a:r>
              <a:rPr lang="en-US" sz="1500" dirty="0"/>
              <a:t>Energy management → lowers costs and emissions </a:t>
            </a:r>
          </a:p>
          <a:p>
            <a:pPr lvl="1">
              <a:lnSpc>
                <a:spcPct val="100000"/>
              </a:lnSpc>
            </a:pPr>
            <a:r>
              <a:rPr lang="en-US" sz="1500" dirty="0"/>
              <a:t>Workflow automation → improves efficiency </a:t>
            </a:r>
          </a:p>
          <a:p>
            <a:pPr lvl="1">
              <a:lnSpc>
                <a:spcPct val="100000"/>
              </a:lnSpc>
            </a:pPr>
            <a:r>
              <a:rPr lang="en-US" sz="1500" dirty="0"/>
              <a:t>Space utilization → optimizes building use </a:t>
            </a:r>
          </a:p>
          <a:p>
            <a:pPr lvl="1">
              <a:lnSpc>
                <a:spcPct val="100000"/>
              </a:lnSpc>
            </a:pPr>
            <a:r>
              <a:rPr lang="en-US" sz="1500" dirty="0"/>
              <a:t>Digital twins → simulate and improve performance </a:t>
            </a:r>
          </a:p>
          <a:p>
            <a:pPr>
              <a:lnSpc>
                <a:spcPct val="100000"/>
              </a:lnSpc>
            </a:pPr>
            <a:endParaRPr lang="en-US" sz="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BBEDCE-2F76-527F-C156-CEF7E45119A1}"/>
              </a:ext>
            </a:extLst>
          </p:cNvPr>
          <p:cNvSpPr txBox="1"/>
          <p:nvPr/>
        </p:nvSpPr>
        <p:spPr>
          <a:xfrm>
            <a:off x="9422296" y="844826"/>
            <a:ext cx="2364320" cy="5278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00" b="1" dirty="0"/>
              <a:t>AI enables smarter decision-making at all levels</a:t>
            </a:r>
            <a:r>
              <a:rPr lang="en-US" sz="1100" dirty="0"/>
              <a:t> </a:t>
            </a:r>
          </a:p>
          <a:p>
            <a:pPr lvl="1">
              <a:lnSpc>
                <a:spcPct val="100000"/>
              </a:lnSpc>
            </a:pPr>
            <a:r>
              <a:rPr lang="en-US" sz="1100" dirty="0"/>
              <a:t>Operational: maintenance scheduling, energy control </a:t>
            </a:r>
          </a:p>
          <a:p>
            <a:pPr lvl="1">
              <a:lnSpc>
                <a:spcPct val="100000"/>
              </a:lnSpc>
            </a:pPr>
            <a:r>
              <a:rPr lang="en-US" sz="1100" dirty="0"/>
              <a:t>Strategic: capital planning, risk management, long-term investment </a:t>
            </a:r>
          </a:p>
          <a:p>
            <a:pPr>
              <a:lnSpc>
                <a:spcPct val="100000"/>
              </a:lnSpc>
            </a:pPr>
            <a:r>
              <a:rPr lang="en-US" sz="1100" b="1" dirty="0"/>
              <a:t>Clear performance benefits</a:t>
            </a:r>
            <a:r>
              <a:rPr lang="en-US" sz="1100" dirty="0"/>
              <a:t> </a:t>
            </a:r>
          </a:p>
          <a:p>
            <a:pPr lvl="1">
              <a:lnSpc>
                <a:spcPct val="100000"/>
              </a:lnSpc>
            </a:pPr>
            <a:r>
              <a:rPr lang="en-US" sz="1100" dirty="0"/>
              <a:t>Lower costs </a:t>
            </a:r>
          </a:p>
          <a:p>
            <a:pPr lvl="1">
              <a:lnSpc>
                <a:spcPct val="100000"/>
              </a:lnSpc>
            </a:pPr>
            <a:r>
              <a:rPr lang="en-US" sz="1100" dirty="0"/>
              <a:t>Increased efficiency </a:t>
            </a:r>
          </a:p>
          <a:p>
            <a:pPr lvl="1">
              <a:lnSpc>
                <a:spcPct val="100000"/>
              </a:lnSpc>
            </a:pPr>
            <a:r>
              <a:rPr lang="en-US" sz="1100" dirty="0"/>
              <a:t>Reduced downtime (10–20% improvement) </a:t>
            </a:r>
          </a:p>
          <a:p>
            <a:pPr lvl="1">
              <a:lnSpc>
                <a:spcPct val="100000"/>
              </a:lnSpc>
            </a:pPr>
            <a:r>
              <a:rPr lang="en-US" sz="1100" dirty="0"/>
              <a:t>Longer asset lifespan </a:t>
            </a:r>
          </a:p>
          <a:p>
            <a:pPr lvl="1">
              <a:lnSpc>
                <a:spcPct val="100000"/>
              </a:lnSpc>
            </a:pPr>
            <a:r>
              <a:rPr lang="en-US" sz="1100" dirty="0"/>
              <a:t>Improved sustainability outcomes </a:t>
            </a:r>
          </a:p>
          <a:p>
            <a:pPr>
              <a:lnSpc>
                <a:spcPct val="100000"/>
              </a:lnSpc>
            </a:pPr>
            <a:r>
              <a:rPr lang="en-US" sz="1100" b="1" dirty="0"/>
              <a:t>Challenges are real but manageable</a:t>
            </a:r>
            <a:r>
              <a:rPr lang="en-US" sz="1100" dirty="0"/>
              <a:t> </a:t>
            </a:r>
          </a:p>
          <a:p>
            <a:pPr lvl="1">
              <a:lnSpc>
                <a:spcPct val="100000"/>
              </a:lnSpc>
            </a:pPr>
            <a:r>
              <a:rPr lang="en-US" sz="1100" dirty="0"/>
              <a:t>High upfront costs </a:t>
            </a:r>
          </a:p>
          <a:p>
            <a:pPr lvl="1">
              <a:lnSpc>
                <a:spcPct val="100000"/>
              </a:lnSpc>
            </a:pPr>
            <a:r>
              <a:rPr lang="en-US" sz="1100" dirty="0"/>
              <a:t>Data quality and integration issues </a:t>
            </a:r>
          </a:p>
          <a:p>
            <a:pPr lvl="1">
              <a:lnSpc>
                <a:spcPct val="100000"/>
              </a:lnSpc>
            </a:pPr>
            <a:r>
              <a:rPr lang="en-US" sz="1100" dirty="0"/>
              <a:t>Cybersecurity risks </a:t>
            </a:r>
          </a:p>
          <a:p>
            <a:pPr lvl="1">
              <a:lnSpc>
                <a:spcPct val="100000"/>
              </a:lnSpc>
            </a:pPr>
            <a:r>
              <a:rPr lang="en-US" sz="1100" dirty="0"/>
              <a:t>Organizational resistance to change </a:t>
            </a:r>
          </a:p>
          <a:p>
            <a:pPr>
              <a:lnSpc>
                <a:spcPct val="100000"/>
              </a:lnSpc>
            </a:pPr>
            <a:r>
              <a:rPr lang="en-US" sz="1100" dirty="0"/>
              <a:t>👉 </a:t>
            </a:r>
            <a:r>
              <a:rPr lang="en-US" sz="1100" b="1" dirty="0"/>
              <a:t>Main argument:</a:t>
            </a:r>
            <a:br>
              <a:rPr lang="en-US" sz="1100" dirty="0"/>
            </a:br>
            <a:r>
              <a:rPr lang="en-US" sz="1100" dirty="0"/>
              <a:t>AI turns facilities management into a </a:t>
            </a:r>
            <a:r>
              <a:rPr lang="en-US" sz="1100" b="1" dirty="0"/>
              <a:t>strategic business function</a:t>
            </a:r>
            <a:r>
              <a:rPr lang="en-US" sz="1100" dirty="0"/>
              <a:t> that improves performance, reduces costs, and supports long-term organizational goals.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8722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082E5AA-6E5F-4FCC-8C41-11E32F833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DAE107-353E-1728-42D4-9B3F3913E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102352" cy="166420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dirty="0"/>
              <a:t>Broader Implications for Society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5622" y="612648"/>
            <a:ext cx="551383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City">
            <a:extLst>
              <a:ext uri="{FF2B5EF4-FFF2-40B4-BE49-F238E27FC236}">
                <a16:creationId xmlns:a16="http://schemas.microsoft.com/office/drawing/2014/main" id="{54E8D3DB-95C3-E203-5E51-9786B08607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8419" y="2834640"/>
            <a:ext cx="3511296" cy="351129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B743B-9C0E-F9AB-A148-3B31F3858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3056" y="978408"/>
            <a:ext cx="2539786" cy="5367528"/>
          </a:xfrm>
        </p:spPr>
        <p:txBody>
          <a:bodyPr>
            <a:normAutofit fontScale="92500"/>
          </a:bodyPr>
          <a:lstStyle/>
          <a:p>
            <a:pPr>
              <a:lnSpc>
                <a:spcPct val="100000"/>
              </a:lnSpc>
            </a:pPr>
            <a:r>
              <a:rPr lang="en-US" sz="1100" b="1" dirty="0"/>
              <a:t>Key implications:</a:t>
            </a:r>
          </a:p>
          <a:p>
            <a:pPr>
              <a:lnSpc>
                <a:spcPct val="100000"/>
              </a:lnSpc>
            </a:pPr>
            <a:r>
              <a:rPr lang="en-US" sz="1100" b="1" dirty="0"/>
              <a:t>• Smarter, more sustainable buildings</a:t>
            </a:r>
          </a:p>
          <a:p>
            <a:pPr>
              <a:lnSpc>
                <a:spcPct val="100000"/>
              </a:lnSpc>
            </a:pPr>
            <a:r>
              <a:rPr lang="en-US" sz="1100" dirty="0"/>
              <a:t>AI continuously optimizes energy use (HVAC, lighting, etc.) </a:t>
            </a:r>
          </a:p>
          <a:p>
            <a:pPr>
              <a:lnSpc>
                <a:spcPct val="100000"/>
              </a:lnSpc>
            </a:pPr>
            <a:r>
              <a:rPr lang="en-US" sz="1100" dirty="0"/>
              <a:t>Reduces emissions and supports ESG goals </a:t>
            </a:r>
          </a:p>
          <a:p>
            <a:pPr>
              <a:lnSpc>
                <a:spcPct val="100000"/>
              </a:lnSpc>
            </a:pPr>
            <a:r>
              <a:rPr lang="en-US" sz="1100" dirty="0"/>
              <a:t>Buildings become active participants in climate strategy </a:t>
            </a:r>
          </a:p>
          <a:p>
            <a:pPr>
              <a:lnSpc>
                <a:spcPct val="100000"/>
              </a:lnSpc>
            </a:pPr>
            <a:br>
              <a:rPr lang="en-US" sz="1100" dirty="0"/>
            </a:br>
            <a:endParaRPr lang="en-US" sz="1100" dirty="0"/>
          </a:p>
          <a:p>
            <a:pPr>
              <a:lnSpc>
                <a:spcPct val="100000"/>
              </a:lnSpc>
            </a:pPr>
            <a:r>
              <a:rPr lang="en-US" sz="1100" b="1" dirty="0"/>
              <a:t>• Transformation of work and skills</a:t>
            </a:r>
          </a:p>
          <a:p>
            <a:pPr>
              <a:lnSpc>
                <a:spcPct val="100000"/>
              </a:lnSpc>
            </a:pPr>
            <a:r>
              <a:rPr lang="en-US" sz="1100" dirty="0"/>
              <a:t>Routine tasks (manual inspections, scheduling) are automated </a:t>
            </a:r>
          </a:p>
          <a:p>
            <a:pPr>
              <a:lnSpc>
                <a:spcPct val="100000"/>
              </a:lnSpc>
            </a:pPr>
            <a:r>
              <a:rPr lang="en-US" sz="1100" dirty="0"/>
              <a:t>FM roles evolve toward: </a:t>
            </a:r>
          </a:p>
          <a:p>
            <a:pPr lvl="1">
              <a:lnSpc>
                <a:spcPct val="100000"/>
              </a:lnSpc>
            </a:pPr>
            <a:r>
              <a:rPr lang="en-US" sz="1100" dirty="0"/>
              <a:t>Data analysis </a:t>
            </a:r>
          </a:p>
          <a:p>
            <a:pPr lvl="1">
              <a:lnSpc>
                <a:spcPct val="100000"/>
              </a:lnSpc>
            </a:pPr>
            <a:r>
              <a:rPr lang="en-US" sz="1100" dirty="0"/>
              <a:t>System oversight </a:t>
            </a:r>
          </a:p>
          <a:p>
            <a:pPr lvl="1">
              <a:lnSpc>
                <a:spcPct val="100000"/>
              </a:lnSpc>
            </a:pPr>
            <a:r>
              <a:rPr lang="en-US" sz="1100" dirty="0"/>
              <a:t>Strategic planning </a:t>
            </a:r>
          </a:p>
          <a:p>
            <a:pPr>
              <a:lnSpc>
                <a:spcPct val="100000"/>
              </a:lnSpc>
            </a:pPr>
            <a:r>
              <a:rPr lang="en-US" sz="1100" dirty="0"/>
              <a:t>Increases demand for digital and AI literacy </a:t>
            </a:r>
          </a:p>
          <a:p>
            <a:pPr>
              <a:lnSpc>
                <a:spcPct val="100000"/>
              </a:lnSpc>
            </a:pPr>
            <a:br>
              <a:rPr lang="en-US" sz="1100" dirty="0"/>
            </a:br>
            <a:endParaRPr lang="en-US" sz="1100" dirty="0"/>
          </a:p>
          <a:p>
            <a:pPr lvl="1">
              <a:lnSpc>
                <a:spcPct val="100000"/>
              </a:lnSpc>
            </a:pPr>
            <a:r>
              <a:rPr lang="en-US" sz="1100" dirty="0"/>
              <a:t>Digital infrastructure resilience</a:t>
            </a:r>
          </a:p>
          <a:p>
            <a:pPr>
              <a:lnSpc>
                <a:spcPct val="100000"/>
              </a:lnSpc>
            </a:pPr>
            <a:endParaRPr lang="en-US" sz="5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DC5EB-53F6-F739-F01A-D3F41733E254}"/>
              </a:ext>
            </a:extLst>
          </p:cNvPr>
          <p:cNvSpPr txBox="1"/>
          <p:nvPr/>
        </p:nvSpPr>
        <p:spPr>
          <a:xfrm>
            <a:off x="9070633" y="882316"/>
            <a:ext cx="2598821" cy="5616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00" b="1" dirty="0"/>
              <a:t>• Enhanced human experience in buildings</a:t>
            </a:r>
          </a:p>
          <a:p>
            <a:pPr>
              <a:lnSpc>
                <a:spcPct val="100000"/>
              </a:lnSpc>
            </a:pPr>
            <a:r>
              <a:rPr lang="en-US" sz="1100" dirty="0"/>
              <a:t>AI improves: </a:t>
            </a:r>
          </a:p>
          <a:p>
            <a:pPr lvl="1">
              <a:lnSpc>
                <a:spcPct val="100000"/>
              </a:lnSpc>
            </a:pPr>
            <a:r>
              <a:rPr lang="en-US" sz="1100" dirty="0"/>
              <a:t>Comfort (temperature, air quality) </a:t>
            </a:r>
          </a:p>
          <a:p>
            <a:pPr lvl="1">
              <a:lnSpc>
                <a:spcPct val="100000"/>
              </a:lnSpc>
            </a:pPr>
            <a:r>
              <a:rPr lang="en-US" sz="1100" dirty="0"/>
              <a:t>Safety (intelligent security systems) </a:t>
            </a:r>
          </a:p>
          <a:p>
            <a:pPr lvl="1">
              <a:lnSpc>
                <a:spcPct val="100000"/>
              </a:lnSpc>
            </a:pPr>
            <a:r>
              <a:rPr lang="en-US" sz="1100" dirty="0"/>
              <a:t>Responsiveness (faster maintenance) </a:t>
            </a:r>
          </a:p>
          <a:p>
            <a:pPr>
              <a:lnSpc>
                <a:spcPct val="100000"/>
              </a:lnSpc>
            </a:pPr>
            <a:r>
              <a:rPr lang="en-US" sz="1100" dirty="0"/>
              <a:t>Particularly impactful in offices, hospitals, campuses </a:t>
            </a:r>
          </a:p>
          <a:p>
            <a:pPr>
              <a:lnSpc>
                <a:spcPct val="100000"/>
              </a:lnSpc>
            </a:pPr>
            <a:br>
              <a:rPr lang="en-US" sz="1100" dirty="0"/>
            </a:br>
            <a:endParaRPr lang="en-US" sz="1100" dirty="0"/>
          </a:p>
          <a:p>
            <a:pPr>
              <a:lnSpc>
                <a:spcPct val="100000"/>
              </a:lnSpc>
            </a:pPr>
            <a:r>
              <a:rPr lang="en-US" sz="1100" b="1" dirty="0"/>
              <a:t>• Rise of “data-driven infrastructure”</a:t>
            </a:r>
          </a:p>
          <a:p>
            <a:pPr>
              <a:lnSpc>
                <a:spcPct val="100000"/>
              </a:lnSpc>
            </a:pPr>
            <a:r>
              <a:rPr lang="en-US" sz="1100" dirty="0"/>
              <a:t>Buildings become </a:t>
            </a:r>
            <a:r>
              <a:rPr lang="en-US" sz="1100" b="1" dirty="0"/>
              <a:t>continuous data generators</a:t>
            </a:r>
            <a:r>
              <a:rPr lang="en-US" sz="1100" dirty="0"/>
              <a:t> </a:t>
            </a:r>
          </a:p>
          <a:p>
            <a:pPr>
              <a:lnSpc>
                <a:spcPct val="100000"/>
              </a:lnSpc>
            </a:pPr>
            <a:r>
              <a:rPr lang="en-US" sz="1100" dirty="0"/>
              <a:t>Leads to: </a:t>
            </a:r>
          </a:p>
          <a:p>
            <a:pPr lvl="1">
              <a:lnSpc>
                <a:spcPct val="100000"/>
              </a:lnSpc>
            </a:pPr>
            <a:r>
              <a:rPr lang="en-US" sz="1100" dirty="0"/>
              <a:t>Better decision-making </a:t>
            </a:r>
          </a:p>
          <a:p>
            <a:pPr lvl="1">
              <a:lnSpc>
                <a:spcPct val="100000"/>
              </a:lnSpc>
            </a:pPr>
            <a:r>
              <a:rPr lang="en-US" sz="1100" dirty="0"/>
              <a:t>Greater transparency </a:t>
            </a:r>
          </a:p>
          <a:p>
            <a:pPr>
              <a:lnSpc>
                <a:spcPct val="100000"/>
              </a:lnSpc>
            </a:pPr>
            <a:r>
              <a:rPr lang="en-US" sz="1100" dirty="0"/>
              <a:t>But also raises concerns: </a:t>
            </a:r>
          </a:p>
          <a:p>
            <a:pPr lvl="1">
              <a:lnSpc>
                <a:spcPct val="100000"/>
              </a:lnSpc>
            </a:pPr>
            <a:r>
              <a:rPr lang="en-US" sz="1100" dirty="0"/>
              <a:t>Data privacy </a:t>
            </a:r>
          </a:p>
          <a:p>
            <a:pPr lvl="1">
              <a:lnSpc>
                <a:spcPct val="100000"/>
              </a:lnSpc>
            </a:pPr>
            <a:r>
              <a:rPr lang="en-US" sz="1100" dirty="0"/>
              <a:t>Cybersecurity risks </a:t>
            </a:r>
          </a:p>
          <a:p>
            <a:pPr>
              <a:lnSpc>
                <a:spcPct val="100000"/>
              </a:lnSpc>
            </a:pPr>
            <a:br>
              <a:rPr lang="en-US" sz="1100" dirty="0"/>
            </a:br>
            <a:endParaRPr lang="en-US" sz="1100" dirty="0"/>
          </a:p>
          <a:p>
            <a:pPr>
              <a:lnSpc>
                <a:spcPct val="100000"/>
              </a:lnSpc>
            </a:pPr>
            <a:r>
              <a:rPr lang="en-US" sz="1100" b="1" dirty="0"/>
              <a:t>• Increased reliance on automation</a:t>
            </a:r>
          </a:p>
          <a:p>
            <a:pPr>
              <a:lnSpc>
                <a:spcPct val="100000"/>
              </a:lnSpc>
            </a:pPr>
            <a:r>
              <a:rPr lang="en-US" sz="1100" dirty="0"/>
              <a:t>Facilities operate with less human intervention </a:t>
            </a:r>
          </a:p>
          <a:p>
            <a:pPr>
              <a:lnSpc>
                <a:spcPct val="100000"/>
              </a:lnSpc>
            </a:pPr>
            <a:r>
              <a:rPr lang="en-US" sz="1100" dirty="0"/>
              <a:t>Improves efficiency but increases dependence on: </a:t>
            </a:r>
          </a:p>
          <a:p>
            <a:pPr lvl="1">
              <a:lnSpc>
                <a:spcPct val="100000"/>
              </a:lnSpc>
            </a:pPr>
            <a:r>
              <a:rPr lang="en-US" sz="1100" dirty="0"/>
              <a:t>AI systems </a:t>
            </a:r>
          </a:p>
          <a:p>
            <a:pPr lvl="1">
              <a:lnSpc>
                <a:spcPct val="100000"/>
              </a:lnSpc>
            </a:pPr>
            <a:r>
              <a:rPr lang="en-US" sz="1100" dirty="0"/>
              <a:t>Digital infrastructure resilience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239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082E5AA-6E5F-4FCC-8C41-11E32F833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F9B50E-4E21-CBA2-A20F-66748CA45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102352" cy="166420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Relevance and Potential Influence on the Construction Industry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5622" y="612648"/>
            <a:ext cx="551383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Arrow Circle">
            <a:extLst>
              <a:ext uri="{FF2B5EF4-FFF2-40B4-BE49-F238E27FC236}">
                <a16:creationId xmlns:a16="http://schemas.microsoft.com/office/drawing/2014/main" id="{0C9686DE-6039-CD95-8571-51609EEF34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8419" y="2834640"/>
            <a:ext cx="3511296" cy="351129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C3AFA-AC3B-4298-9F83-BFE850387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0253" y="978408"/>
            <a:ext cx="3336758" cy="5367528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00000"/>
              </a:lnSpc>
            </a:pPr>
            <a:r>
              <a:rPr lang="en-US" sz="3400" b="1" dirty="0"/>
              <a:t>1. Shift toward lifecycle-driven construction</a:t>
            </a:r>
          </a:p>
          <a:p>
            <a:pPr>
              <a:lnSpc>
                <a:spcPct val="100000"/>
              </a:lnSpc>
            </a:pPr>
            <a:r>
              <a:rPr lang="en-US" sz="3400" dirty="0"/>
              <a:t>Buildings must now be designed for: </a:t>
            </a:r>
          </a:p>
          <a:p>
            <a:pPr lvl="1">
              <a:lnSpc>
                <a:spcPct val="100000"/>
              </a:lnSpc>
            </a:pPr>
            <a:r>
              <a:rPr lang="en-US" sz="3400" dirty="0"/>
              <a:t>Long-term data collection </a:t>
            </a:r>
          </a:p>
          <a:p>
            <a:pPr lvl="1">
              <a:lnSpc>
                <a:spcPct val="100000"/>
              </a:lnSpc>
            </a:pPr>
            <a:r>
              <a:rPr lang="en-US" sz="3400" dirty="0"/>
              <a:t>AI integration </a:t>
            </a:r>
          </a:p>
          <a:p>
            <a:pPr>
              <a:lnSpc>
                <a:spcPct val="100000"/>
              </a:lnSpc>
            </a:pPr>
            <a:r>
              <a:rPr lang="en-US" sz="3400" dirty="0"/>
              <a:t>Moves industry from: </a:t>
            </a:r>
          </a:p>
          <a:p>
            <a:pPr lvl="1">
              <a:lnSpc>
                <a:spcPct val="100000"/>
              </a:lnSpc>
            </a:pPr>
            <a:r>
              <a:rPr lang="en-US" sz="3400" dirty="0"/>
              <a:t>“Build → hand off”</a:t>
            </a:r>
            <a:br>
              <a:rPr lang="en-US" sz="3400" dirty="0"/>
            </a:br>
            <a:r>
              <a:rPr lang="en-US" sz="3400" dirty="0"/>
              <a:t>→ “Design → operate → optimize” </a:t>
            </a:r>
          </a:p>
          <a:p>
            <a:pPr>
              <a:lnSpc>
                <a:spcPct val="100000"/>
              </a:lnSpc>
            </a:pPr>
            <a:br>
              <a:rPr lang="en-US" sz="3400" dirty="0"/>
            </a:br>
            <a:endParaRPr lang="en-US" sz="3400" dirty="0"/>
          </a:p>
          <a:p>
            <a:pPr>
              <a:lnSpc>
                <a:spcPct val="100000"/>
              </a:lnSpc>
            </a:pPr>
            <a:r>
              <a:rPr lang="en-US" sz="3400" b="1" dirty="0"/>
              <a:t>2. Increased demand for smart building infrastructure</a:t>
            </a:r>
          </a:p>
          <a:p>
            <a:pPr>
              <a:lnSpc>
                <a:spcPct val="100000"/>
              </a:lnSpc>
            </a:pPr>
            <a:r>
              <a:rPr lang="en-US" sz="3400" dirty="0"/>
              <a:t>New construction must include: </a:t>
            </a:r>
          </a:p>
          <a:p>
            <a:pPr lvl="1">
              <a:lnSpc>
                <a:spcPct val="100000"/>
              </a:lnSpc>
            </a:pPr>
            <a:r>
              <a:rPr lang="en-US" sz="3400" dirty="0"/>
              <a:t>IoT sensors </a:t>
            </a:r>
          </a:p>
          <a:p>
            <a:pPr lvl="1">
              <a:lnSpc>
                <a:spcPct val="100000"/>
              </a:lnSpc>
            </a:pPr>
            <a:r>
              <a:rPr lang="en-US" sz="3400" dirty="0"/>
              <a:t>Connected systems (BMS, HVAC, security) </a:t>
            </a:r>
          </a:p>
          <a:p>
            <a:pPr>
              <a:lnSpc>
                <a:spcPct val="100000"/>
              </a:lnSpc>
            </a:pPr>
            <a:r>
              <a:rPr lang="en-US" sz="3400" dirty="0"/>
              <a:t>AI-ready infrastructure becomes a </a:t>
            </a:r>
            <a:r>
              <a:rPr lang="en-US" sz="3400" b="1" dirty="0"/>
              <a:t>baseline expectation</a:t>
            </a:r>
            <a:r>
              <a:rPr lang="en-US" sz="3400" dirty="0"/>
              <a:t> </a:t>
            </a:r>
          </a:p>
          <a:p>
            <a:pPr>
              <a:lnSpc>
                <a:spcPct val="100000"/>
              </a:lnSpc>
            </a:pPr>
            <a:br>
              <a:rPr lang="en-US" sz="3400" dirty="0"/>
            </a:br>
            <a:endParaRPr lang="en-US" sz="3400" dirty="0"/>
          </a:p>
          <a:p>
            <a:pPr>
              <a:lnSpc>
                <a:spcPct val="100000"/>
              </a:lnSpc>
            </a:pPr>
            <a:r>
              <a:rPr lang="en-US" sz="3400" b="1" dirty="0"/>
              <a:t>3. Growth of digital twins and BIM integration</a:t>
            </a:r>
          </a:p>
          <a:p>
            <a:pPr>
              <a:lnSpc>
                <a:spcPct val="100000"/>
              </a:lnSpc>
            </a:pPr>
            <a:r>
              <a:rPr lang="en-US" sz="3400" dirty="0"/>
              <a:t>AI-powered FM relies on: </a:t>
            </a:r>
          </a:p>
          <a:p>
            <a:pPr lvl="1">
              <a:lnSpc>
                <a:spcPct val="100000"/>
              </a:lnSpc>
            </a:pPr>
            <a:r>
              <a:rPr lang="en-US" sz="3400" dirty="0"/>
              <a:t>Digital twins </a:t>
            </a:r>
          </a:p>
          <a:p>
            <a:pPr lvl="1">
              <a:lnSpc>
                <a:spcPct val="100000"/>
              </a:lnSpc>
            </a:pPr>
            <a:r>
              <a:rPr lang="en-US" sz="3400" dirty="0"/>
              <a:t>Accurate building data models </a:t>
            </a:r>
          </a:p>
          <a:p>
            <a:pPr>
              <a:lnSpc>
                <a:spcPct val="100000"/>
              </a:lnSpc>
            </a:pPr>
            <a:r>
              <a:rPr lang="en-US" sz="3400" dirty="0"/>
              <a:t>Forces tighter integration between: </a:t>
            </a:r>
          </a:p>
          <a:p>
            <a:pPr lvl="1">
              <a:lnSpc>
                <a:spcPct val="100000"/>
              </a:lnSpc>
            </a:pPr>
            <a:r>
              <a:rPr lang="en-US" sz="3400" dirty="0"/>
              <a:t>Design </a:t>
            </a:r>
          </a:p>
          <a:p>
            <a:pPr lvl="1">
              <a:lnSpc>
                <a:spcPct val="100000"/>
              </a:lnSpc>
            </a:pPr>
            <a:r>
              <a:rPr lang="en-US" sz="3400" dirty="0"/>
              <a:t>Construction </a:t>
            </a:r>
          </a:p>
          <a:p>
            <a:pPr lvl="1">
              <a:lnSpc>
                <a:spcPct val="100000"/>
              </a:lnSpc>
            </a:pPr>
            <a:r>
              <a:rPr lang="en-US" sz="3400" dirty="0"/>
              <a:t>Operations </a:t>
            </a:r>
          </a:p>
          <a:p>
            <a:pPr>
              <a:lnSpc>
                <a:spcPct val="100000"/>
              </a:lnSpc>
            </a:pPr>
            <a:br>
              <a:rPr lang="en-US" sz="1100" dirty="0"/>
            </a:br>
            <a:endParaRPr lang="en-US" sz="1100" dirty="0"/>
          </a:p>
          <a:p>
            <a:pPr>
              <a:lnSpc>
                <a:spcPct val="100000"/>
              </a:lnSpc>
            </a:pPr>
            <a:endParaRPr lang="en-US" sz="5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E2CD02-C166-DE26-0DE9-EBBE9EBE8654}"/>
              </a:ext>
            </a:extLst>
          </p:cNvPr>
          <p:cNvSpPr txBox="1"/>
          <p:nvPr/>
        </p:nvSpPr>
        <p:spPr>
          <a:xfrm>
            <a:off x="8767011" y="898358"/>
            <a:ext cx="2775284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br>
              <a:rPr lang="en-US" sz="500" dirty="0"/>
            </a:br>
            <a:endParaRPr lang="en-US" sz="500" dirty="0"/>
          </a:p>
          <a:p>
            <a:pPr>
              <a:lnSpc>
                <a:spcPct val="100000"/>
              </a:lnSpc>
            </a:pPr>
            <a:r>
              <a:rPr lang="en-US" sz="1100" b="1" dirty="0"/>
              <a:t>4. Changing project requirements and specifications</a:t>
            </a:r>
          </a:p>
          <a:p>
            <a:pPr>
              <a:lnSpc>
                <a:spcPct val="100000"/>
              </a:lnSpc>
            </a:pPr>
            <a:r>
              <a:rPr lang="en-US" sz="1100" dirty="0"/>
              <a:t>Owners will increasingly demand:</a:t>
            </a:r>
          </a:p>
          <a:p>
            <a:pPr>
              <a:lnSpc>
                <a:spcPct val="100000"/>
              </a:lnSpc>
            </a:pPr>
            <a:r>
              <a:rPr lang="en-US" sz="1100" dirty="0"/>
              <a:t>Energy-efficient, AI-optimized systems </a:t>
            </a:r>
          </a:p>
          <a:p>
            <a:pPr>
              <a:lnSpc>
                <a:spcPct val="100000"/>
              </a:lnSpc>
            </a:pPr>
            <a:r>
              <a:rPr lang="en-US" sz="1100" dirty="0"/>
              <a:t>Real-time monitoring capabilities </a:t>
            </a:r>
          </a:p>
          <a:p>
            <a:pPr>
              <a:lnSpc>
                <a:spcPct val="100000"/>
              </a:lnSpc>
            </a:pPr>
            <a:r>
              <a:rPr lang="en-US" sz="1100" dirty="0"/>
              <a:t>Integrated software ecosystems </a:t>
            </a:r>
          </a:p>
          <a:p>
            <a:pPr>
              <a:lnSpc>
                <a:spcPct val="100000"/>
              </a:lnSpc>
            </a:pPr>
            <a:r>
              <a:rPr lang="en-US" sz="1100" dirty="0"/>
              <a:t>👉 This affects:</a:t>
            </a:r>
          </a:p>
          <a:p>
            <a:pPr>
              <a:lnSpc>
                <a:spcPct val="100000"/>
              </a:lnSpc>
            </a:pPr>
            <a:r>
              <a:rPr lang="en-US" sz="1100" dirty="0"/>
              <a:t>Design decisions </a:t>
            </a:r>
          </a:p>
          <a:p>
            <a:pPr>
              <a:lnSpc>
                <a:spcPct val="100000"/>
              </a:lnSpc>
            </a:pPr>
            <a:r>
              <a:rPr lang="en-US" sz="1100" dirty="0"/>
              <a:t>Procurement strategies </a:t>
            </a:r>
          </a:p>
          <a:p>
            <a:pPr>
              <a:lnSpc>
                <a:spcPct val="100000"/>
              </a:lnSpc>
            </a:pPr>
            <a:r>
              <a:rPr lang="en-US" sz="1100" dirty="0"/>
              <a:t>Contractor responsibilities </a:t>
            </a:r>
          </a:p>
          <a:p>
            <a:pPr>
              <a:lnSpc>
                <a:spcPct val="100000"/>
              </a:lnSpc>
            </a:pPr>
            <a:br>
              <a:rPr lang="en-US" sz="1100" dirty="0"/>
            </a:br>
            <a:endParaRPr lang="en-US" sz="1100" dirty="0"/>
          </a:p>
          <a:p>
            <a:pPr>
              <a:lnSpc>
                <a:spcPct val="100000"/>
              </a:lnSpc>
            </a:pPr>
            <a:r>
              <a:rPr lang="en-US" sz="1100" b="1" dirty="0"/>
              <a:t>5. Competitive advantage for forward-thinking firms</a:t>
            </a:r>
          </a:p>
          <a:p>
            <a:pPr>
              <a:lnSpc>
                <a:spcPct val="100000"/>
              </a:lnSpc>
            </a:pPr>
            <a:r>
              <a:rPr lang="en-US" sz="1100" dirty="0"/>
              <a:t>Firms that incorporate AI/FM considerations: </a:t>
            </a:r>
          </a:p>
          <a:p>
            <a:pPr lvl="1">
              <a:lnSpc>
                <a:spcPct val="100000"/>
              </a:lnSpc>
            </a:pPr>
            <a:r>
              <a:rPr lang="en-US" sz="1100" dirty="0"/>
              <a:t>Deliver higher-value assets </a:t>
            </a:r>
          </a:p>
          <a:p>
            <a:pPr lvl="1">
              <a:lnSpc>
                <a:spcPct val="100000"/>
              </a:lnSpc>
            </a:pPr>
            <a:r>
              <a:rPr lang="en-US" sz="1100" dirty="0"/>
              <a:t>Win more complex, tech-driven projects </a:t>
            </a:r>
          </a:p>
          <a:p>
            <a:pPr>
              <a:lnSpc>
                <a:spcPct val="100000"/>
              </a:lnSpc>
            </a:pPr>
            <a:r>
              <a:rPr lang="en-US" sz="1100" dirty="0"/>
              <a:t>Especially relevant in: </a:t>
            </a:r>
          </a:p>
          <a:p>
            <a:pPr lvl="1">
              <a:lnSpc>
                <a:spcPct val="100000"/>
              </a:lnSpc>
            </a:pPr>
            <a:r>
              <a:rPr lang="en-US" sz="1100" dirty="0"/>
              <a:t>Commercial real estate </a:t>
            </a:r>
          </a:p>
          <a:p>
            <a:pPr lvl="1">
              <a:lnSpc>
                <a:spcPct val="100000"/>
              </a:lnSpc>
            </a:pPr>
            <a:r>
              <a:rPr lang="en-US" sz="1100" dirty="0"/>
              <a:t>Healthcare </a:t>
            </a:r>
          </a:p>
          <a:p>
            <a:pPr lvl="1">
              <a:lnSpc>
                <a:spcPct val="100000"/>
              </a:lnSpc>
            </a:pPr>
            <a:r>
              <a:rPr lang="en-US" sz="1100" dirty="0"/>
              <a:t>Smart cities </a:t>
            </a:r>
          </a:p>
          <a:p>
            <a:pPr>
              <a:lnSpc>
                <a:spcPct val="100000"/>
              </a:lnSpc>
            </a:pPr>
            <a:br>
              <a:rPr lang="en-US" sz="1100" dirty="0"/>
            </a:br>
            <a:endParaRPr lang="en-US" sz="1100" dirty="0"/>
          </a:p>
          <a:p>
            <a:pPr>
              <a:lnSpc>
                <a:spcPct val="100000"/>
              </a:lnSpc>
            </a:pPr>
            <a:r>
              <a:rPr lang="en-US" sz="1100" b="1" dirty="0"/>
              <a:t>6. Convergence of construction and operations</a:t>
            </a:r>
          </a:p>
          <a:p>
            <a:pPr>
              <a:lnSpc>
                <a:spcPct val="100000"/>
              </a:lnSpc>
            </a:pPr>
            <a:r>
              <a:rPr lang="en-US" sz="1100" dirty="0"/>
              <a:t>The gap between AEC and FM is shrinking </a:t>
            </a:r>
          </a:p>
          <a:p>
            <a:pPr>
              <a:lnSpc>
                <a:spcPct val="100000"/>
              </a:lnSpc>
            </a:pPr>
            <a:r>
              <a:rPr lang="en-US" sz="1100" dirty="0"/>
              <a:t>Construction firms must think like operators </a:t>
            </a:r>
          </a:p>
          <a:p>
            <a:pPr>
              <a:lnSpc>
                <a:spcPct val="100000"/>
              </a:lnSpc>
            </a:pPr>
            <a:r>
              <a:rPr lang="en-US" sz="1100" dirty="0"/>
              <a:t>👉 AI is a key driver of this industry convergence.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156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438336-9E79-170B-DFA2-2F7AB36E0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2725783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06D5D9-7503-9EB5-0FDD-D9C16228F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2372" y="0"/>
            <a:ext cx="2769243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1C3E48-80C1-1478-9608-2ED5B4C9A3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8205" y="0"/>
            <a:ext cx="2750032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5C9E811-8913-A97B-5C9D-30429418F2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1417" y="0"/>
            <a:ext cx="27960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422603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594</Words>
  <Application>Microsoft Office PowerPoint</Application>
  <PresentationFormat>Widescreen</PresentationFormat>
  <Paragraphs>121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Bierstadt</vt:lpstr>
      <vt:lpstr>GestaltVTI</vt:lpstr>
      <vt:lpstr>What is AI in facilities management? </vt:lpstr>
      <vt:lpstr>Screenshot</vt:lpstr>
      <vt:lpstr>Link to the Source</vt:lpstr>
      <vt:lpstr>Main Findings </vt:lpstr>
      <vt:lpstr>Broader Implications for Society</vt:lpstr>
      <vt:lpstr>Relevance and Potential Influence on the Construction Industry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 Elowson</dc:creator>
  <cp:lastModifiedBy>Ed Elowson</cp:lastModifiedBy>
  <cp:revision>1</cp:revision>
  <dcterms:created xsi:type="dcterms:W3CDTF">2026-04-03T15:10:43Z</dcterms:created>
  <dcterms:modified xsi:type="dcterms:W3CDTF">2026-04-03T17:40:39Z</dcterms:modified>
</cp:coreProperties>
</file>